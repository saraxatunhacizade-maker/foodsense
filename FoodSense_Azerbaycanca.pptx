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74" d="100"/>
          <a:sy n="74" d="100"/>
        </p:scale>
        <p:origin x="1060" y="4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28132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D9488"/>
          </a:solidFill>
          <a:ln w="12700">
            <a:solidFill>
              <a:srgbClr val="0D9488"/>
            </a:solidFill>
            <a:prstDash val="solid"/>
          </a:ln>
        </p:spPr>
      </p:sp>
      <p:sp>
        <p:nvSpPr>
          <p:cNvPr id="3" name="Shape 1"/>
          <p:cNvSpPr/>
          <p:nvPr/>
        </p:nvSpPr>
        <p:spPr>
          <a:xfrm>
            <a:off x="6858000" y="-457200"/>
            <a:ext cx="3200400" cy="3200400"/>
          </a:xfrm>
          <a:prstGeom prst="ellipse">
            <a:avLst/>
          </a:prstGeom>
          <a:solidFill>
            <a:srgbClr val="0D9488">
              <a:alpha val="15000"/>
            </a:srgbClr>
          </a:solidFill>
          <a:ln w="12700">
            <a:solidFill>
              <a:srgbClr val="0D9488">
                <a:alpha val="15000"/>
              </a:srgbClr>
            </a:solidFill>
            <a:prstDash val="solid"/>
          </a:ln>
        </p:spPr>
      </p:sp>
      <p:sp>
        <p:nvSpPr>
          <p:cNvPr id="4" name="Shape 2"/>
          <p:cNvSpPr/>
          <p:nvPr/>
        </p:nvSpPr>
        <p:spPr>
          <a:xfrm>
            <a:off x="7498080" y="2286000"/>
            <a:ext cx="1828800" cy="1828800"/>
          </a:xfrm>
          <a:prstGeom prst="ellipse">
            <a:avLst/>
          </a:prstGeom>
          <a:solidFill>
            <a:srgbClr val="F59E0B">
              <a:alpha val="12000"/>
            </a:srgbClr>
          </a:solidFill>
          <a:ln w="12700">
            <a:solidFill>
              <a:srgbClr val="F59E0B">
                <a:alpha val="12000"/>
              </a:srgbClr>
            </a:solidFill>
            <a:prstDash val="solid"/>
          </a:ln>
        </p:spPr>
      </p:sp>
      <p:sp>
        <p:nvSpPr>
          <p:cNvPr id="5" name="Text 3"/>
          <p:cNvSpPr/>
          <p:nvPr/>
        </p:nvSpPr>
        <p:spPr>
          <a:xfrm>
            <a:off x="457200" y="365760"/>
            <a:ext cx="914400" cy="914400"/>
          </a:xfrm>
          <a:prstGeom prst="rect">
            <a:avLst/>
          </a:prstGeom>
          <a:noFill/>
          <a:ln/>
        </p:spPr>
        <p:txBody>
          <a:bodyPr wrap="square" rtlCol="0" anchor="ctr"/>
          <a:lstStyle/>
          <a:p>
            <a:pPr marL="0" indent="0">
              <a:buNone/>
            </a:pPr>
            <a:r>
              <a:rPr lang="en-US" sz="3600" dirty="0">
                <a:solidFill>
                  <a:srgbClr val="000000"/>
                </a:solidFill>
              </a:rPr>
              <a:t>🍴</a:t>
            </a:r>
            <a:endParaRPr lang="en-US" sz="3600" dirty="0"/>
          </a:p>
        </p:txBody>
      </p:sp>
      <p:sp>
        <p:nvSpPr>
          <p:cNvPr id="6" name="Text 4"/>
          <p:cNvSpPr/>
          <p:nvPr/>
        </p:nvSpPr>
        <p:spPr>
          <a:xfrm>
            <a:off x="411480" y="1005840"/>
            <a:ext cx="8321040" cy="1005840"/>
          </a:xfrm>
          <a:prstGeom prst="rect">
            <a:avLst/>
          </a:prstGeom>
          <a:noFill/>
          <a:ln/>
        </p:spPr>
        <p:txBody>
          <a:bodyPr wrap="square" rtlCol="0" anchor="ctr"/>
          <a:lstStyle/>
          <a:p>
            <a:pPr marL="0" indent="0">
              <a:buNone/>
            </a:pPr>
            <a:r>
              <a:rPr lang="en-US" sz="5400" b="1" kern="0" spc="200" dirty="0">
                <a:solidFill>
                  <a:srgbClr val="FFFFFF"/>
                </a:solidFill>
                <a:latin typeface="Calibri" pitchFamily="34" charset="0"/>
                <a:ea typeface="Calibri" pitchFamily="34" charset="-122"/>
                <a:cs typeface="Calibri" pitchFamily="34" charset="-120"/>
              </a:rPr>
              <a:t>FoodSense</a:t>
            </a:r>
            <a:endParaRPr lang="en-US" sz="5400" dirty="0"/>
          </a:p>
        </p:txBody>
      </p:sp>
      <p:sp>
        <p:nvSpPr>
          <p:cNvPr id="7" name="Text 5"/>
          <p:cNvSpPr/>
          <p:nvPr/>
        </p:nvSpPr>
        <p:spPr>
          <a:xfrm>
            <a:off x="411480" y="1965960"/>
            <a:ext cx="7315200" cy="548640"/>
          </a:xfrm>
          <a:prstGeom prst="rect">
            <a:avLst/>
          </a:prstGeom>
          <a:noFill/>
          <a:ln/>
        </p:spPr>
        <p:txBody>
          <a:bodyPr wrap="square" rtlCol="0" anchor="ctr"/>
          <a:lstStyle/>
          <a:p>
            <a:pPr marL="0" indent="0">
              <a:buNone/>
            </a:pPr>
            <a:r>
              <a:rPr lang="en-US" sz="2200" b="1" dirty="0">
                <a:solidFill>
                  <a:srgbClr val="0D9488"/>
                </a:solidFill>
                <a:latin typeface="Calibri" pitchFamily="34" charset="0"/>
                <a:ea typeface="Calibri" pitchFamily="34" charset="-122"/>
                <a:cs typeface="Calibri" pitchFamily="34" charset="-120"/>
              </a:rPr>
              <a:t>Ağıllı Menyu Tövsiyə Sistemi</a:t>
            </a:r>
            <a:endParaRPr lang="en-US" sz="2200" dirty="0"/>
          </a:p>
        </p:txBody>
      </p:sp>
      <p:sp>
        <p:nvSpPr>
          <p:cNvPr id="8" name="Text 6"/>
          <p:cNvSpPr/>
          <p:nvPr/>
        </p:nvSpPr>
        <p:spPr>
          <a:xfrm>
            <a:off x="411480" y="2560320"/>
            <a:ext cx="7772400" cy="640080"/>
          </a:xfrm>
          <a:prstGeom prst="rect">
            <a:avLst/>
          </a:prstGeom>
          <a:noFill/>
          <a:ln/>
        </p:spPr>
        <p:txBody>
          <a:bodyPr wrap="square" rtlCol="0" anchor="ctr"/>
          <a:lstStyle/>
          <a:p>
            <a:pPr marL="0" indent="0">
              <a:buNone/>
            </a:pPr>
            <a:r>
              <a:rPr lang="en-US" sz="1400" i="1" dirty="0">
                <a:solidFill>
                  <a:srgbClr val="94A3B8"/>
                </a:solidFill>
                <a:latin typeface="Calibri" pitchFamily="34" charset="0"/>
                <a:ea typeface="Calibri" pitchFamily="34" charset="-122"/>
                <a:cs typeface="Calibri" pitchFamily="34" charset="-120"/>
              </a:rPr>
              <a:t>AI əsaslı fərdiləşdirilmiş restoran təcrübəsi — hava məlumatları, müştəri profili və real vaxt filtrləmə ilə</a:t>
            </a:r>
            <a:endParaRPr lang="en-US" sz="1400" dirty="0"/>
          </a:p>
        </p:txBody>
      </p:sp>
      <p:sp>
        <p:nvSpPr>
          <p:cNvPr id="9" name="Shape 7"/>
          <p:cNvSpPr/>
          <p:nvPr/>
        </p:nvSpPr>
        <p:spPr>
          <a:xfrm>
            <a:off x="0" y="4572000"/>
            <a:ext cx="9144000" cy="571500"/>
          </a:xfrm>
          <a:prstGeom prst="rect">
            <a:avLst/>
          </a:prstGeom>
          <a:solidFill>
            <a:srgbClr val="0D9488">
              <a:alpha val="20000"/>
            </a:srgbClr>
          </a:solidFill>
          <a:ln w="12700">
            <a:solidFill>
              <a:srgbClr val="0D9488">
                <a:alpha val="20000"/>
              </a:srgbClr>
            </a:solidFill>
            <a:prstDash val="solid"/>
          </a:ln>
        </p:spPr>
      </p:sp>
      <p:sp>
        <p:nvSpPr>
          <p:cNvPr id="10" name="Text 8"/>
          <p:cNvSpPr/>
          <p:nvPr/>
        </p:nvSpPr>
        <p:spPr>
          <a:xfrm>
            <a:off x="411480" y="4617720"/>
            <a:ext cx="8229600" cy="457200"/>
          </a:xfrm>
          <a:prstGeom prst="rect">
            <a:avLst/>
          </a:prstGeom>
          <a:noFill/>
          <a:ln/>
        </p:spPr>
        <p:txBody>
          <a:bodyPr wrap="square" rtlCol="0" anchor="ctr"/>
          <a:lstStyle/>
          <a:p>
            <a:pPr marL="0" indent="0">
              <a:buNone/>
            </a:pPr>
            <a:r>
              <a:rPr lang="en-US" sz="1200" dirty="0">
                <a:solidFill>
                  <a:srgbClr val="94A3B8"/>
                </a:solidFill>
                <a:latin typeface="Calibri" pitchFamily="34" charset="0"/>
                <a:ea typeface="Calibri" pitchFamily="34" charset="-122"/>
                <a:cs typeface="Calibri" pitchFamily="34" charset="-120"/>
              </a:rPr>
              <a:t>IT Business Analytics Project  •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İCRA XÜLASƏSİ</a:t>
            </a:r>
            <a:endParaRPr lang="en-US" sz="2800" dirty="0"/>
          </a:p>
        </p:txBody>
      </p:sp>
      <p:sp>
        <p:nvSpPr>
          <p:cNvPr id="4" name="Text 2"/>
          <p:cNvSpPr/>
          <p:nvPr/>
        </p:nvSpPr>
        <p:spPr>
          <a:xfrm>
            <a:off x="365760" y="594360"/>
            <a:ext cx="8229600" cy="274320"/>
          </a:xfrm>
          <a:prstGeom prst="rect">
            <a:avLst/>
          </a:prstGeom>
          <a:noFill/>
          <a:ln/>
        </p:spPr>
        <p:txBody>
          <a:bodyPr wrap="square" lIns="0" tIns="0" rIns="0" bIns="0" rtlCol="0" anchor="ctr"/>
          <a:lstStyle/>
          <a:p>
            <a:pPr marL="0" indent="0">
              <a:buNone/>
            </a:pPr>
            <a:r>
              <a:rPr lang="en-US" sz="1300" i="1" dirty="0">
                <a:solidFill>
                  <a:srgbClr val="0D9488"/>
                </a:solidFill>
                <a:latin typeface="Calibri" pitchFamily="34" charset="0"/>
                <a:ea typeface="Calibri" pitchFamily="34" charset="-122"/>
                <a:cs typeface="Calibri" pitchFamily="34" charset="-120"/>
              </a:rPr>
              <a:t>FoodSense nədir və niyə vacibdir</a:t>
            </a:r>
            <a:endParaRPr lang="en-US" sz="1300" dirty="0"/>
          </a:p>
        </p:txBody>
      </p:sp>
      <p:sp>
        <p:nvSpPr>
          <p:cNvPr id="5" name="Shape 3"/>
          <p:cNvSpPr/>
          <p:nvPr/>
        </p:nvSpPr>
        <p:spPr>
          <a:xfrm>
            <a:off x="228600" y="1005840"/>
            <a:ext cx="2788920" cy="37490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228600" y="1005840"/>
            <a:ext cx="2788920" cy="73152"/>
          </a:xfrm>
          <a:prstGeom prst="rect">
            <a:avLst/>
          </a:prstGeom>
          <a:solidFill>
            <a:srgbClr val="0D9488"/>
          </a:solidFill>
          <a:ln w="12700">
            <a:solidFill>
              <a:srgbClr val="0D9488"/>
            </a:solidFill>
            <a:prstDash val="solid"/>
          </a:ln>
        </p:spPr>
      </p:sp>
      <p:sp>
        <p:nvSpPr>
          <p:cNvPr id="7" name="Text 5"/>
          <p:cNvSpPr/>
          <p:nvPr/>
        </p:nvSpPr>
        <p:spPr>
          <a:xfrm>
            <a:off x="338328" y="1097280"/>
            <a:ext cx="640080" cy="64008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8" name="Text 6"/>
          <p:cNvSpPr/>
          <p:nvPr/>
        </p:nvSpPr>
        <p:spPr>
          <a:xfrm>
            <a:off x="338328" y="1691640"/>
            <a:ext cx="2560320" cy="411480"/>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Əsas İdeya</a:t>
            </a:r>
            <a:endParaRPr lang="en-US" sz="1500" dirty="0"/>
          </a:p>
        </p:txBody>
      </p:sp>
      <p:sp>
        <p:nvSpPr>
          <p:cNvPr id="9" name="Text 7"/>
          <p:cNvSpPr/>
          <p:nvPr/>
        </p:nvSpPr>
        <p:spPr>
          <a:xfrm>
            <a:off x="338328" y="2148840"/>
            <a:ext cx="2578608" cy="246888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FoodSense — real vaxt hava məlumatları, allergiya profili, dietar üstünlüklər, sifariş tarixçəsi və gün vaxtını birləşdirərək hər müştəriyə tam fərdiləşdirilmiş, təhlükəsiz və kontekstə uyğun menyu təqdim edən AI sistemidir.</a:t>
            </a:r>
            <a:endParaRPr lang="en-US" sz="1200" dirty="0"/>
          </a:p>
        </p:txBody>
      </p:sp>
      <p:sp>
        <p:nvSpPr>
          <p:cNvPr id="10" name="Shape 8"/>
          <p:cNvSpPr/>
          <p:nvPr/>
        </p:nvSpPr>
        <p:spPr>
          <a:xfrm>
            <a:off x="3154680" y="1005840"/>
            <a:ext cx="2788920" cy="37490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1" name="Shape 9"/>
          <p:cNvSpPr/>
          <p:nvPr/>
        </p:nvSpPr>
        <p:spPr>
          <a:xfrm>
            <a:off x="3154680" y="1005840"/>
            <a:ext cx="2788920" cy="73152"/>
          </a:xfrm>
          <a:prstGeom prst="rect">
            <a:avLst/>
          </a:prstGeom>
          <a:solidFill>
            <a:srgbClr val="F59E0B"/>
          </a:solidFill>
          <a:ln w="12700">
            <a:solidFill>
              <a:srgbClr val="F59E0B"/>
            </a:solidFill>
            <a:prstDash val="solid"/>
          </a:ln>
        </p:spPr>
      </p:sp>
      <p:sp>
        <p:nvSpPr>
          <p:cNvPr id="12" name="Text 10"/>
          <p:cNvSpPr/>
          <p:nvPr/>
        </p:nvSpPr>
        <p:spPr>
          <a:xfrm>
            <a:off x="3264408" y="1097280"/>
            <a:ext cx="640080" cy="64008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13" name="Text 11"/>
          <p:cNvSpPr/>
          <p:nvPr/>
        </p:nvSpPr>
        <p:spPr>
          <a:xfrm>
            <a:off x="3264408" y="1691640"/>
            <a:ext cx="2560320" cy="411480"/>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Nə Qurduq</a:t>
            </a:r>
            <a:endParaRPr lang="en-US" sz="1500" dirty="0"/>
          </a:p>
        </p:txBody>
      </p:sp>
      <p:sp>
        <p:nvSpPr>
          <p:cNvPr id="14" name="Text 12"/>
          <p:cNvSpPr/>
          <p:nvPr/>
        </p:nvSpPr>
        <p:spPr>
          <a:xfrm>
            <a:off x="3264408" y="2148840"/>
            <a:ext cx="2578608" cy="246888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Tam mobil tətbiq axışı: giriş (Google, SMS OTP, Qonaq), iki mərhələli sorğu (allergiya + diet), AI-dəstəkli əsas ekran, ağıllı axtarış, yerə əsaslı nəticələr, loyallıq kartı və ulduz reytinq sistemi.</a:t>
            </a:r>
            <a:endParaRPr lang="en-US" sz="1200" dirty="0"/>
          </a:p>
        </p:txBody>
      </p:sp>
      <p:sp>
        <p:nvSpPr>
          <p:cNvPr id="15" name="Shape 13"/>
          <p:cNvSpPr/>
          <p:nvPr/>
        </p:nvSpPr>
        <p:spPr>
          <a:xfrm>
            <a:off x="6080760" y="1005840"/>
            <a:ext cx="2788920" cy="374904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6" name="Shape 14"/>
          <p:cNvSpPr/>
          <p:nvPr/>
        </p:nvSpPr>
        <p:spPr>
          <a:xfrm>
            <a:off x="6080760" y="1005840"/>
            <a:ext cx="2788920" cy="73152"/>
          </a:xfrm>
          <a:prstGeom prst="rect">
            <a:avLst/>
          </a:prstGeom>
          <a:solidFill>
            <a:srgbClr val="10B981"/>
          </a:solidFill>
          <a:ln w="12700">
            <a:solidFill>
              <a:srgbClr val="10B981"/>
            </a:solidFill>
            <a:prstDash val="solid"/>
          </a:ln>
        </p:spPr>
      </p:sp>
      <p:sp>
        <p:nvSpPr>
          <p:cNvPr id="17" name="Text 15"/>
          <p:cNvSpPr/>
          <p:nvPr/>
        </p:nvSpPr>
        <p:spPr>
          <a:xfrm>
            <a:off x="6190488" y="1097280"/>
            <a:ext cx="640080" cy="640080"/>
          </a:xfrm>
          <a:prstGeom prst="rect">
            <a:avLst/>
          </a:prstGeom>
          <a:noFill/>
          <a:ln/>
        </p:spPr>
        <p:txBody>
          <a:bodyPr wrap="square" rtlCol="0" anchor="ctr"/>
          <a:lstStyle/>
          <a:p>
            <a:pPr marL="0" indent="0">
              <a:buNone/>
            </a:pPr>
            <a:r>
              <a:rPr lang="en-US" sz="2600" dirty="0">
                <a:solidFill>
                  <a:srgbClr val="000000"/>
                </a:solidFill>
              </a:rPr>
              <a:t>💡</a:t>
            </a:r>
            <a:endParaRPr lang="en-US" sz="2600" dirty="0"/>
          </a:p>
        </p:txBody>
      </p:sp>
      <p:sp>
        <p:nvSpPr>
          <p:cNvPr id="18" name="Text 16"/>
          <p:cNvSpPr/>
          <p:nvPr/>
        </p:nvSpPr>
        <p:spPr>
          <a:xfrm>
            <a:off x="6190488" y="1691640"/>
            <a:ext cx="2560320" cy="411480"/>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Niyə Vacibdir</a:t>
            </a:r>
            <a:endParaRPr lang="en-US" sz="1500" dirty="0"/>
          </a:p>
        </p:txBody>
      </p:sp>
      <p:sp>
        <p:nvSpPr>
          <p:cNvPr id="19" name="Text 17"/>
          <p:cNvSpPr/>
          <p:nvPr/>
        </p:nvSpPr>
        <p:spPr>
          <a:xfrm>
            <a:off x="6190488" y="2148840"/>
            <a:ext cx="2578608" cy="246888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Restoranlar qərar veriləməmə, gəlməmə (no-show) və allergiya hadisələrindən gəlir itirir. FoodSense hər iki problemi həll edir: müştəri saniyələr içində kuratorluq edilmiş menyu alır, restoran daha ağıllı müştəri axını əldə edir.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8F0"/>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B45309"/>
          </a:solidFill>
          <a:ln w="12700">
            <a:solidFill>
              <a:srgbClr val="B45309"/>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800" b="1" dirty="0">
                <a:solidFill>
                  <a:srgbClr val="FFFFFF"/>
                </a:solidFill>
                <a:latin typeface="Calibri" pitchFamily="34" charset="0"/>
                <a:ea typeface="Calibri" pitchFamily="34" charset="-122"/>
                <a:cs typeface="Calibri" pitchFamily="34" charset="-120"/>
              </a:rPr>
              <a:t>PROBLEM</a:t>
            </a:r>
            <a:endParaRPr lang="en-US" sz="28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300" i="1" dirty="0">
                <a:solidFill>
                  <a:srgbClr val="F59E0B"/>
                </a:solidFill>
                <a:latin typeface="Calibri" pitchFamily="34" charset="0"/>
                <a:ea typeface="Calibri" pitchFamily="34" charset="-122"/>
                <a:cs typeface="Calibri" pitchFamily="34" charset="-120"/>
              </a:rPr>
              <a:t>Bu gün restoran sənayesindəki dörd əsas çatışmazlıq</a:t>
            </a:r>
            <a:endParaRPr lang="en-US" sz="1300" dirty="0"/>
          </a:p>
        </p:txBody>
      </p:sp>
      <p:sp>
        <p:nvSpPr>
          <p:cNvPr id="5" name="Shape 3"/>
          <p:cNvSpPr/>
          <p:nvPr/>
        </p:nvSpPr>
        <p:spPr>
          <a:xfrm>
            <a:off x="293450" y="1005840"/>
            <a:ext cx="3977640" cy="1828800"/>
          </a:xfrm>
          <a:prstGeom prst="rect">
            <a:avLst/>
          </a:prstGeom>
          <a:solidFill>
            <a:srgbClr val="FFFFFF"/>
          </a:solidFill>
          <a:ln w="12700">
            <a:solidFill>
              <a:srgbClr val="FDBA74"/>
            </a:solidFill>
            <a:prstDash val="solid"/>
          </a:ln>
          <a:effectLst>
            <a:outerShdw blurRad="101600" dist="38100" dir="8100000" algn="bl" rotWithShape="0">
              <a:srgbClr val="000000">
                <a:alpha val="10000"/>
              </a:srgbClr>
            </a:outerShdw>
          </a:effectLst>
        </p:spPr>
      </p:sp>
      <p:sp>
        <p:nvSpPr>
          <p:cNvPr id="6" name="Text 4"/>
          <p:cNvSpPr/>
          <p:nvPr/>
        </p:nvSpPr>
        <p:spPr>
          <a:xfrm>
            <a:off x="430610" y="1097280"/>
            <a:ext cx="3977640" cy="457200"/>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Menyu Yüklənməsi və Qərar Yorğunluğu</a:t>
            </a:r>
            <a:endParaRPr lang="en-US" sz="1300" dirty="0"/>
          </a:p>
        </p:txBody>
      </p:sp>
      <p:sp>
        <p:nvSpPr>
          <p:cNvPr id="7" name="Text 5"/>
          <p:cNvSpPr/>
          <p:nvPr/>
        </p:nvSpPr>
        <p:spPr>
          <a:xfrm>
            <a:off x="430610" y="1554480"/>
            <a:ext cx="3667976" cy="11887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Ortalama restoran menyusunda 70–80 maddə var. 7-dən çox seçim müştəri narahatlığını artırır. Filtrasiya və fərdiləşdirmə olmadığı üçün qərar vermək 3–5× uzun çəkir.</a:t>
            </a:r>
            <a:endParaRPr lang="en-US" sz="1200" dirty="0"/>
          </a:p>
        </p:txBody>
      </p:sp>
      <p:sp>
        <p:nvSpPr>
          <p:cNvPr id="8" name="Shape 6"/>
          <p:cNvSpPr/>
          <p:nvPr/>
        </p:nvSpPr>
        <p:spPr>
          <a:xfrm>
            <a:off x="4786979" y="1005840"/>
            <a:ext cx="4049625" cy="1828800"/>
          </a:xfrm>
          <a:prstGeom prst="rect">
            <a:avLst/>
          </a:prstGeom>
          <a:solidFill>
            <a:srgbClr val="FFFFFF"/>
          </a:solidFill>
          <a:ln w="12700">
            <a:solidFill>
              <a:srgbClr val="FDBA74"/>
            </a:solidFill>
            <a:prstDash val="solid"/>
          </a:ln>
          <a:effectLst>
            <a:outerShdw blurRad="101600" dist="38100" dir="8100000" algn="bl" rotWithShape="0">
              <a:srgbClr val="000000">
                <a:alpha val="10000"/>
              </a:srgbClr>
            </a:outerShdw>
          </a:effectLst>
        </p:spPr>
      </p:sp>
      <p:sp>
        <p:nvSpPr>
          <p:cNvPr id="9" name="Text 7"/>
          <p:cNvSpPr/>
          <p:nvPr/>
        </p:nvSpPr>
        <p:spPr>
          <a:xfrm>
            <a:off x="4904685" y="1097280"/>
            <a:ext cx="3977640" cy="457200"/>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Hava Məlumatları Tövsiyəyə Daxil Edilmir</a:t>
            </a:r>
            <a:endParaRPr lang="en-US" sz="1300" dirty="0"/>
          </a:p>
        </p:txBody>
      </p:sp>
      <p:sp>
        <p:nvSpPr>
          <p:cNvPr id="10" name="Text 8"/>
          <p:cNvSpPr/>
          <p:nvPr/>
        </p:nvSpPr>
        <p:spPr>
          <a:xfrm>
            <a:off x="4904685" y="1554480"/>
            <a:ext cx="3876148" cy="11887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İnsan qida üstünlükləri birbaşa temperatura bağlıdır. 32°C-də müştəri soyuq salat istəyir, lakin bütün restoranlar eyni statik menyunu təqdim edir.</a:t>
            </a:r>
            <a:endParaRPr lang="en-US" sz="1200" dirty="0"/>
          </a:p>
        </p:txBody>
      </p:sp>
      <p:sp>
        <p:nvSpPr>
          <p:cNvPr id="11" name="Shape 9"/>
          <p:cNvSpPr/>
          <p:nvPr/>
        </p:nvSpPr>
        <p:spPr>
          <a:xfrm>
            <a:off x="293450" y="3017520"/>
            <a:ext cx="3977640" cy="1828800"/>
          </a:xfrm>
          <a:prstGeom prst="rect">
            <a:avLst/>
          </a:prstGeom>
          <a:solidFill>
            <a:srgbClr val="FFFFFF"/>
          </a:solidFill>
          <a:ln w="12700">
            <a:solidFill>
              <a:srgbClr val="FDBA74"/>
            </a:solidFill>
            <a:prstDash val="solid"/>
          </a:ln>
          <a:effectLst>
            <a:outerShdw blurRad="101600" dist="38100" dir="8100000" algn="bl" rotWithShape="0">
              <a:srgbClr val="000000">
                <a:alpha val="10000"/>
              </a:srgbClr>
            </a:outerShdw>
          </a:effectLst>
        </p:spPr>
      </p:sp>
      <p:sp>
        <p:nvSpPr>
          <p:cNvPr id="12" name="Text 10"/>
          <p:cNvSpPr/>
          <p:nvPr/>
        </p:nvSpPr>
        <p:spPr>
          <a:xfrm>
            <a:off x="430610" y="3108960"/>
            <a:ext cx="3977640" cy="457200"/>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Allergiya Təhlükəsizliyi Müştəriyə Buraxılır</a:t>
            </a:r>
            <a:endParaRPr lang="en-US" sz="1300" dirty="0"/>
          </a:p>
        </p:txBody>
      </p:sp>
      <p:sp>
        <p:nvSpPr>
          <p:cNvPr id="13" name="Text 11"/>
          <p:cNvSpPr/>
          <p:nvPr/>
        </p:nvSpPr>
        <p:spPr>
          <a:xfrm>
            <a:off x="430610" y="3566160"/>
            <a:ext cx="3596640" cy="11887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Azərbaycanda və dünyada restoranlarda qida allergiyası halları çoxdur. Menyular allergenleri nadirən göstərir. FoodSense bunu avtomatlaşdırır — allergik maddəni içərən heç bir yemək göstərilmir.</a:t>
            </a:r>
            <a:endParaRPr lang="en-US" sz="1200" dirty="0"/>
          </a:p>
        </p:txBody>
      </p:sp>
      <p:sp>
        <p:nvSpPr>
          <p:cNvPr id="14" name="Shape 12"/>
          <p:cNvSpPr/>
          <p:nvPr/>
        </p:nvSpPr>
        <p:spPr>
          <a:xfrm>
            <a:off x="4786980" y="3017520"/>
            <a:ext cx="4069080" cy="1828800"/>
          </a:xfrm>
          <a:prstGeom prst="rect">
            <a:avLst/>
          </a:prstGeom>
          <a:solidFill>
            <a:srgbClr val="FFFFFF"/>
          </a:solidFill>
          <a:ln w="12700">
            <a:solidFill>
              <a:srgbClr val="FDBA74"/>
            </a:solidFill>
            <a:prstDash val="solid"/>
          </a:ln>
          <a:effectLst>
            <a:outerShdw blurRad="101600" dist="38100" dir="8100000" algn="bl" rotWithShape="0">
              <a:srgbClr val="000000">
                <a:alpha val="10000"/>
              </a:srgbClr>
            </a:outerShdw>
          </a:effectLst>
        </p:spPr>
      </p:sp>
      <p:sp>
        <p:nvSpPr>
          <p:cNvPr id="15" name="Text 13"/>
          <p:cNvSpPr/>
          <p:nvPr/>
        </p:nvSpPr>
        <p:spPr>
          <a:xfrm>
            <a:off x="4904685" y="3108960"/>
            <a:ext cx="3977640" cy="457200"/>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Hamıya Eyni Menyu</a:t>
            </a:r>
            <a:endParaRPr lang="en-US" sz="1300" dirty="0"/>
          </a:p>
        </p:txBody>
      </p:sp>
      <p:sp>
        <p:nvSpPr>
          <p:cNvPr id="16" name="Text 14"/>
          <p:cNvSpPr/>
          <p:nvPr/>
        </p:nvSpPr>
        <p:spPr>
          <a:xfrm>
            <a:off x="4904685" y="3566160"/>
            <a:ext cx="3876148" cy="118872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Vegan müştəri ət yeməkləri görür. Keto müştəri pasta görür. Hal-hazırda heç bir tətbiq fərd üçün filtrasiya etmir. FoodSense seçilən diet üstünlüyünə əsasən bütün tövsiyələri yenidən sıralayır.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FoodSense NECƏ İŞLƏYİR?</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İlk açılışdan sifariş sonrası mükafata qədər tam axış</a:t>
            </a:r>
            <a:endParaRPr lang="en-US" sz="1200" dirty="0"/>
          </a:p>
        </p:txBody>
      </p:sp>
      <p:sp>
        <p:nvSpPr>
          <p:cNvPr id="5" name="Shape 3"/>
          <p:cNvSpPr/>
          <p:nvPr/>
        </p:nvSpPr>
        <p:spPr>
          <a:xfrm>
            <a:off x="228600" y="100584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 name="Shape 4"/>
          <p:cNvSpPr/>
          <p:nvPr/>
        </p:nvSpPr>
        <p:spPr>
          <a:xfrm>
            <a:off x="338328" y="1115568"/>
            <a:ext cx="475488" cy="475488"/>
          </a:xfrm>
          <a:prstGeom prst="ellipse">
            <a:avLst/>
          </a:prstGeom>
          <a:solidFill>
            <a:srgbClr val="0D9488"/>
          </a:solidFill>
          <a:ln w="12700">
            <a:solidFill>
              <a:srgbClr val="0D9488"/>
            </a:solidFill>
            <a:prstDash val="solid"/>
          </a:ln>
        </p:spPr>
      </p:sp>
      <p:sp>
        <p:nvSpPr>
          <p:cNvPr id="7" name="Text 5"/>
          <p:cNvSpPr/>
          <p:nvPr/>
        </p:nvSpPr>
        <p:spPr>
          <a:xfrm>
            <a:off x="338328" y="111556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Text 6"/>
          <p:cNvSpPr/>
          <p:nvPr/>
        </p:nvSpPr>
        <p:spPr>
          <a:xfrm>
            <a:off x="886968" y="111556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Giriş</a:t>
            </a:r>
            <a:endParaRPr lang="en-US" sz="1400" dirty="0"/>
          </a:p>
        </p:txBody>
      </p:sp>
      <p:sp>
        <p:nvSpPr>
          <p:cNvPr id="9" name="Text 7"/>
          <p:cNvSpPr/>
          <p:nvPr/>
        </p:nvSpPr>
        <p:spPr>
          <a:xfrm>
            <a:off x="365760" y="166420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Google, SMS OTP (4 rəqəm, 60 san.), Qonaq seçimləri</a:t>
            </a:r>
            <a:endParaRPr lang="en-US" sz="1200" dirty="0"/>
          </a:p>
        </p:txBody>
      </p:sp>
      <p:sp>
        <p:nvSpPr>
          <p:cNvPr id="10" name="Shape 8"/>
          <p:cNvSpPr/>
          <p:nvPr/>
        </p:nvSpPr>
        <p:spPr>
          <a:xfrm>
            <a:off x="3154680" y="100584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11" name="Shape 9"/>
          <p:cNvSpPr/>
          <p:nvPr/>
        </p:nvSpPr>
        <p:spPr>
          <a:xfrm>
            <a:off x="3264408" y="1115568"/>
            <a:ext cx="475488" cy="475488"/>
          </a:xfrm>
          <a:prstGeom prst="ellipse">
            <a:avLst/>
          </a:prstGeom>
          <a:solidFill>
            <a:srgbClr val="0D9488"/>
          </a:solidFill>
          <a:ln w="12700">
            <a:solidFill>
              <a:srgbClr val="0D9488"/>
            </a:solidFill>
            <a:prstDash val="solid"/>
          </a:ln>
        </p:spPr>
      </p:sp>
      <p:sp>
        <p:nvSpPr>
          <p:cNvPr id="12" name="Text 10"/>
          <p:cNvSpPr/>
          <p:nvPr/>
        </p:nvSpPr>
        <p:spPr>
          <a:xfrm>
            <a:off x="3264408" y="111556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3813048" y="111556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Sorğu</a:t>
            </a:r>
            <a:endParaRPr lang="en-US" sz="1400" dirty="0"/>
          </a:p>
        </p:txBody>
      </p:sp>
      <p:sp>
        <p:nvSpPr>
          <p:cNvPr id="14" name="Text 12"/>
          <p:cNvSpPr/>
          <p:nvPr/>
        </p:nvSpPr>
        <p:spPr>
          <a:xfrm>
            <a:off x="3291840" y="166420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Allergiya (Süd, Fıstıq, Gluten...) + Diet (Vegan, Keto, Halal...)</a:t>
            </a:r>
            <a:endParaRPr lang="en-US" sz="1200" dirty="0"/>
          </a:p>
        </p:txBody>
      </p:sp>
      <p:sp>
        <p:nvSpPr>
          <p:cNvPr id="15" name="Shape 13"/>
          <p:cNvSpPr/>
          <p:nvPr/>
        </p:nvSpPr>
        <p:spPr>
          <a:xfrm>
            <a:off x="6080760" y="100584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16" name="Shape 14"/>
          <p:cNvSpPr/>
          <p:nvPr/>
        </p:nvSpPr>
        <p:spPr>
          <a:xfrm>
            <a:off x="6190488" y="1115568"/>
            <a:ext cx="475488" cy="475488"/>
          </a:xfrm>
          <a:prstGeom prst="ellipse">
            <a:avLst/>
          </a:prstGeom>
          <a:solidFill>
            <a:srgbClr val="0D9488"/>
          </a:solidFill>
          <a:ln w="12700">
            <a:solidFill>
              <a:srgbClr val="0D9488"/>
            </a:solidFill>
            <a:prstDash val="solid"/>
          </a:ln>
        </p:spPr>
      </p:sp>
      <p:sp>
        <p:nvSpPr>
          <p:cNvPr id="17" name="Text 15"/>
          <p:cNvSpPr/>
          <p:nvPr/>
        </p:nvSpPr>
        <p:spPr>
          <a:xfrm>
            <a:off x="6190488" y="111556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8" name="Text 16"/>
          <p:cNvSpPr/>
          <p:nvPr/>
        </p:nvSpPr>
        <p:spPr>
          <a:xfrm>
            <a:off x="6739128" y="111556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Məkan</a:t>
            </a:r>
            <a:endParaRPr lang="en-US" sz="1400" dirty="0"/>
          </a:p>
        </p:txBody>
      </p:sp>
      <p:sp>
        <p:nvSpPr>
          <p:cNvPr id="19" name="Text 17"/>
          <p:cNvSpPr/>
          <p:nvPr/>
        </p:nvSpPr>
        <p:spPr>
          <a:xfrm>
            <a:off x="6217920" y="166420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GPS icazəsi → koordinatlar + hava məlumatları real vaxtda alınır</a:t>
            </a:r>
            <a:endParaRPr lang="en-US" sz="1200" dirty="0"/>
          </a:p>
        </p:txBody>
      </p:sp>
      <p:sp>
        <p:nvSpPr>
          <p:cNvPr id="20" name="Shape 18"/>
          <p:cNvSpPr/>
          <p:nvPr/>
        </p:nvSpPr>
        <p:spPr>
          <a:xfrm>
            <a:off x="228600" y="297180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21" name="Shape 19"/>
          <p:cNvSpPr/>
          <p:nvPr/>
        </p:nvSpPr>
        <p:spPr>
          <a:xfrm>
            <a:off x="338328" y="3081528"/>
            <a:ext cx="475488" cy="475488"/>
          </a:xfrm>
          <a:prstGeom prst="ellipse">
            <a:avLst/>
          </a:prstGeom>
          <a:solidFill>
            <a:srgbClr val="0D9488"/>
          </a:solidFill>
          <a:ln w="12700">
            <a:solidFill>
              <a:srgbClr val="0D9488"/>
            </a:solidFill>
            <a:prstDash val="solid"/>
          </a:ln>
        </p:spPr>
      </p:sp>
      <p:sp>
        <p:nvSpPr>
          <p:cNvPr id="22" name="Text 20"/>
          <p:cNvSpPr/>
          <p:nvPr/>
        </p:nvSpPr>
        <p:spPr>
          <a:xfrm>
            <a:off x="338328" y="308152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3" name="Text 21"/>
          <p:cNvSpPr/>
          <p:nvPr/>
        </p:nvSpPr>
        <p:spPr>
          <a:xfrm>
            <a:off x="886968" y="308152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AI Mühərrik</a:t>
            </a:r>
            <a:endParaRPr lang="en-US" sz="1400" dirty="0"/>
          </a:p>
        </p:txBody>
      </p:sp>
      <p:sp>
        <p:nvSpPr>
          <p:cNvPr id="24" name="Text 22"/>
          <p:cNvSpPr/>
          <p:nvPr/>
        </p:nvSpPr>
        <p:spPr>
          <a:xfrm>
            <a:off x="365760" y="363016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P1: Allergiyaları kənar et → P2: Vaxt+Hava uyğunluğu → P3: Diet filtri</a:t>
            </a:r>
            <a:endParaRPr lang="en-US" sz="1200" dirty="0"/>
          </a:p>
        </p:txBody>
      </p:sp>
      <p:sp>
        <p:nvSpPr>
          <p:cNvPr id="25" name="Shape 23"/>
          <p:cNvSpPr/>
          <p:nvPr/>
        </p:nvSpPr>
        <p:spPr>
          <a:xfrm>
            <a:off x="3154680" y="297180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26" name="Shape 24"/>
          <p:cNvSpPr/>
          <p:nvPr/>
        </p:nvSpPr>
        <p:spPr>
          <a:xfrm>
            <a:off x="3264408" y="3081528"/>
            <a:ext cx="475488" cy="475488"/>
          </a:xfrm>
          <a:prstGeom prst="ellipse">
            <a:avLst/>
          </a:prstGeom>
          <a:solidFill>
            <a:srgbClr val="0D9488"/>
          </a:solidFill>
          <a:ln w="12700">
            <a:solidFill>
              <a:srgbClr val="0D9488"/>
            </a:solidFill>
            <a:prstDash val="solid"/>
          </a:ln>
        </p:spPr>
      </p:sp>
      <p:sp>
        <p:nvSpPr>
          <p:cNvPr id="27" name="Text 25"/>
          <p:cNvSpPr/>
          <p:nvPr/>
        </p:nvSpPr>
        <p:spPr>
          <a:xfrm>
            <a:off x="3264408" y="308152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8" name="Text 26"/>
          <p:cNvSpPr/>
          <p:nvPr/>
        </p:nvSpPr>
        <p:spPr>
          <a:xfrm>
            <a:off x="3813048" y="308152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Gözdən Keçir</a:t>
            </a:r>
            <a:endParaRPr lang="en-US" sz="1400" dirty="0"/>
          </a:p>
        </p:txBody>
      </p:sp>
      <p:sp>
        <p:nvSpPr>
          <p:cNvPr id="29" name="Text 27"/>
          <p:cNvSpPr/>
          <p:nvPr/>
        </p:nvSpPr>
        <p:spPr>
          <a:xfrm>
            <a:off x="3291840" y="363016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Trend bölməsi, Sizin Üçün tab, ani axtarış, Yaxınımda tab</a:t>
            </a:r>
            <a:endParaRPr lang="en-US" sz="1200" dirty="0"/>
          </a:p>
        </p:txBody>
      </p:sp>
      <p:sp>
        <p:nvSpPr>
          <p:cNvPr id="30" name="Shape 28"/>
          <p:cNvSpPr/>
          <p:nvPr/>
        </p:nvSpPr>
        <p:spPr>
          <a:xfrm>
            <a:off x="6080760" y="2971800"/>
            <a:ext cx="278892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31" name="Shape 29"/>
          <p:cNvSpPr/>
          <p:nvPr/>
        </p:nvSpPr>
        <p:spPr>
          <a:xfrm>
            <a:off x="6190488" y="3081528"/>
            <a:ext cx="475488" cy="475488"/>
          </a:xfrm>
          <a:prstGeom prst="ellipse">
            <a:avLst/>
          </a:prstGeom>
          <a:solidFill>
            <a:srgbClr val="0D9488"/>
          </a:solidFill>
          <a:ln w="12700">
            <a:solidFill>
              <a:srgbClr val="0D9488"/>
            </a:solidFill>
            <a:prstDash val="solid"/>
          </a:ln>
        </p:spPr>
      </p:sp>
      <p:sp>
        <p:nvSpPr>
          <p:cNvPr id="32" name="Text 30"/>
          <p:cNvSpPr/>
          <p:nvPr/>
        </p:nvSpPr>
        <p:spPr>
          <a:xfrm>
            <a:off x="6190488" y="3081528"/>
            <a:ext cx="475488" cy="475488"/>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33" name="Text 31"/>
          <p:cNvSpPr/>
          <p:nvPr/>
        </p:nvSpPr>
        <p:spPr>
          <a:xfrm>
            <a:off x="6739128" y="3081528"/>
            <a:ext cx="2011680" cy="47548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 Qiymətləndir &amp; Qazan</a:t>
            </a:r>
            <a:endParaRPr lang="en-US" sz="1400" dirty="0"/>
          </a:p>
        </p:txBody>
      </p:sp>
      <p:sp>
        <p:nvSpPr>
          <p:cNvPr id="34" name="Text 32"/>
          <p:cNvSpPr/>
          <p:nvPr/>
        </p:nvSpPr>
        <p:spPr>
          <a:xfrm>
            <a:off x="6217920" y="3630168"/>
            <a:ext cx="2560320" cy="1051560"/>
          </a:xfrm>
          <a:prstGeom prst="rect">
            <a:avLst/>
          </a:prstGeom>
          <a:noFill/>
          <a:ln/>
        </p:spPr>
        <p:txBody>
          <a:bodyPr wrap="square" rtlCol="0" anchor="t"/>
          <a:lstStyle/>
          <a:p>
            <a:pPr marL="0" indent="0">
              <a:buNone/>
            </a:pPr>
            <a:r>
              <a:rPr lang="en-US" sz="1200" dirty="0">
                <a:solidFill>
                  <a:srgbClr val="64748B"/>
                </a:solidFill>
                <a:latin typeface="Calibri" pitchFamily="34" charset="0"/>
                <a:ea typeface="Calibri" pitchFamily="34" charset="-122"/>
                <a:cs typeface="Calibri" pitchFamily="34" charset="-120"/>
              </a:rPr>
              <a:t>Loyallıq kartı (10 dairə), ulduz reytinq → restoran sıralanması dəyişir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GİRİŞ &amp; ONBOARDING EKRANLARI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Giriş → Allergiya Sorğusu → Diet Üstünlüyü  |  Tətbiqin 1, 2 və 3-cü Səhifələri</a:t>
            </a:r>
            <a:endParaRPr lang="en-US" sz="1200" dirty="0"/>
          </a:p>
        </p:txBody>
      </p:sp>
      <p:sp>
        <p:nvSpPr>
          <p:cNvPr id="5" name="Shape 3"/>
          <p:cNvSpPr/>
          <p:nvPr/>
        </p:nvSpPr>
        <p:spPr>
          <a:xfrm>
            <a:off x="228600" y="960120"/>
            <a:ext cx="2788920" cy="3886200"/>
          </a:xfrm>
          <a:prstGeom prst="rect">
            <a:avLst/>
          </a:prstGeom>
          <a:solidFill>
            <a:srgbClr val="E2E8F0"/>
          </a:solidFill>
          <a:ln w="12700">
            <a:solidFill>
              <a:srgbClr val="CBD5E1"/>
            </a:solidFill>
            <a:prstDash val="solid"/>
          </a:ln>
          <a:effectLst>
            <a:outerShdw blurRad="101600" dist="38100" dir="8100000" algn="bl" rotWithShape="0">
              <a:srgbClr val="000000">
                <a:alpha val="10000"/>
              </a:srgbClr>
            </a:outerShdw>
          </a:effectLst>
        </p:spPr>
      </p:sp>
      <p:sp>
        <p:nvSpPr>
          <p:cNvPr id="6" name="Shape 4"/>
          <p:cNvSpPr/>
          <p:nvPr/>
        </p:nvSpPr>
        <p:spPr>
          <a:xfrm>
            <a:off x="228600" y="960120"/>
            <a:ext cx="2788920" cy="640080"/>
          </a:xfrm>
          <a:prstGeom prst="rect">
            <a:avLst/>
          </a:prstGeom>
          <a:solidFill>
            <a:srgbClr val="0D9488"/>
          </a:solidFill>
          <a:ln w="12700">
            <a:solidFill>
              <a:srgbClr val="0D9488"/>
            </a:solidFill>
            <a:prstDash val="solid"/>
          </a:ln>
        </p:spPr>
      </p:sp>
      <p:sp>
        <p:nvSpPr>
          <p:cNvPr id="7" name="Text 5"/>
          <p:cNvSpPr/>
          <p:nvPr/>
        </p:nvSpPr>
        <p:spPr>
          <a:xfrm>
            <a:off x="320040" y="1005840"/>
            <a:ext cx="26060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Giriş Ekranı</a:t>
            </a:r>
            <a:endParaRPr lang="en-US" sz="1400" dirty="0"/>
          </a:p>
        </p:txBody>
      </p:sp>
      <p:sp>
        <p:nvSpPr>
          <p:cNvPr id="8" name="Text 6"/>
          <p:cNvSpPr/>
          <p:nvPr/>
        </p:nvSpPr>
        <p:spPr>
          <a:xfrm>
            <a:off x="365760" y="1691640"/>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Google ilə Daxil Ol</a:t>
            </a:r>
            <a:endParaRPr lang="en-US" sz="1200" dirty="0"/>
          </a:p>
        </p:txBody>
      </p:sp>
      <p:sp>
        <p:nvSpPr>
          <p:cNvPr id="9" name="Text 7"/>
          <p:cNvSpPr/>
          <p:nvPr/>
        </p:nvSpPr>
        <p:spPr>
          <a:xfrm>
            <a:off x="365760" y="2185416"/>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Telefon OTP ilə Giriş</a:t>
            </a:r>
            <a:endParaRPr lang="en-US" sz="1200" dirty="0"/>
          </a:p>
        </p:txBody>
      </p:sp>
      <p:sp>
        <p:nvSpPr>
          <p:cNvPr id="10" name="Text 8"/>
          <p:cNvSpPr/>
          <p:nvPr/>
        </p:nvSpPr>
        <p:spPr>
          <a:xfrm>
            <a:off x="365760" y="2679192"/>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Qonaq kimi Davam Et</a:t>
            </a:r>
            <a:endParaRPr lang="en-US" sz="1200" dirty="0"/>
          </a:p>
        </p:txBody>
      </p:sp>
      <p:sp>
        <p:nvSpPr>
          <p:cNvPr id="11" name="Text 9"/>
          <p:cNvSpPr/>
          <p:nvPr/>
        </p:nvSpPr>
        <p:spPr>
          <a:xfrm>
            <a:off x="365760" y="3172968"/>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Məlumatlar şifrəli saxlanılır</a:t>
            </a:r>
            <a:endParaRPr lang="en-US" sz="1200" dirty="0"/>
          </a:p>
        </p:txBody>
      </p:sp>
      <p:sp>
        <p:nvSpPr>
          <p:cNvPr id="12" name="Text 10"/>
          <p:cNvSpPr/>
          <p:nvPr/>
        </p:nvSpPr>
        <p:spPr>
          <a:xfrm>
            <a:off x="365760" y="3666744"/>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60 san. geri sayım + OTP yenidən göndərmə</a:t>
            </a:r>
            <a:endParaRPr lang="en-US" sz="1200" dirty="0"/>
          </a:p>
        </p:txBody>
      </p:sp>
      <p:sp>
        <p:nvSpPr>
          <p:cNvPr id="13" name="Shape 11"/>
          <p:cNvSpPr/>
          <p:nvPr/>
        </p:nvSpPr>
        <p:spPr>
          <a:xfrm>
            <a:off x="3154680" y="960120"/>
            <a:ext cx="2788920" cy="3886200"/>
          </a:xfrm>
          <a:prstGeom prst="rect">
            <a:avLst/>
          </a:prstGeom>
          <a:solidFill>
            <a:srgbClr val="E2E8F0"/>
          </a:solidFill>
          <a:ln w="12700">
            <a:solidFill>
              <a:srgbClr val="CBD5E1"/>
            </a:solidFill>
            <a:prstDash val="solid"/>
          </a:ln>
          <a:effectLst>
            <a:outerShdw blurRad="101600" dist="38100" dir="8100000" algn="bl" rotWithShape="0">
              <a:srgbClr val="000000">
                <a:alpha val="10000"/>
              </a:srgbClr>
            </a:outerShdw>
          </a:effectLst>
        </p:spPr>
      </p:sp>
      <p:sp>
        <p:nvSpPr>
          <p:cNvPr id="14" name="Shape 12"/>
          <p:cNvSpPr/>
          <p:nvPr/>
        </p:nvSpPr>
        <p:spPr>
          <a:xfrm>
            <a:off x="3154680" y="960120"/>
            <a:ext cx="2788920" cy="640080"/>
          </a:xfrm>
          <a:prstGeom prst="rect">
            <a:avLst/>
          </a:prstGeom>
          <a:solidFill>
            <a:srgbClr val="F59E0B"/>
          </a:solidFill>
          <a:ln w="12700">
            <a:solidFill>
              <a:srgbClr val="F59E0B"/>
            </a:solidFill>
            <a:prstDash val="solid"/>
          </a:ln>
        </p:spPr>
      </p:sp>
      <p:sp>
        <p:nvSpPr>
          <p:cNvPr id="15" name="Text 13"/>
          <p:cNvSpPr/>
          <p:nvPr/>
        </p:nvSpPr>
        <p:spPr>
          <a:xfrm>
            <a:off x="3246120" y="1005840"/>
            <a:ext cx="26060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Allergiya Sorğusu</a:t>
            </a:r>
            <a:endParaRPr lang="en-US" sz="1400" dirty="0"/>
          </a:p>
        </p:txBody>
      </p:sp>
      <p:sp>
        <p:nvSpPr>
          <p:cNvPr id="16" name="Text 14"/>
          <p:cNvSpPr/>
          <p:nvPr/>
        </p:nvSpPr>
        <p:spPr>
          <a:xfrm>
            <a:off x="3291840" y="1691640"/>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Süd məhsulları</a:t>
            </a:r>
            <a:endParaRPr lang="en-US" sz="1200" dirty="0"/>
          </a:p>
        </p:txBody>
      </p:sp>
      <p:sp>
        <p:nvSpPr>
          <p:cNvPr id="17" name="Text 15"/>
          <p:cNvSpPr/>
          <p:nvPr/>
        </p:nvSpPr>
        <p:spPr>
          <a:xfrm>
            <a:off x="3291840" y="2185416"/>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Fıstıq</a:t>
            </a:r>
            <a:endParaRPr lang="en-US" sz="1200" dirty="0"/>
          </a:p>
        </p:txBody>
      </p:sp>
      <p:sp>
        <p:nvSpPr>
          <p:cNvPr id="18" name="Text 16"/>
          <p:cNvSpPr/>
          <p:nvPr/>
        </p:nvSpPr>
        <p:spPr>
          <a:xfrm>
            <a:off x="3291840" y="2679192"/>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Gluten</a:t>
            </a:r>
            <a:endParaRPr lang="en-US" sz="1200" dirty="0"/>
          </a:p>
        </p:txBody>
      </p:sp>
      <p:sp>
        <p:nvSpPr>
          <p:cNvPr id="19" name="Text 17"/>
          <p:cNvSpPr/>
          <p:nvPr/>
        </p:nvSpPr>
        <p:spPr>
          <a:xfrm>
            <a:off x="3291840" y="3172968"/>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Dəniz məhsulları</a:t>
            </a:r>
            <a:endParaRPr lang="en-US" sz="1200" dirty="0"/>
          </a:p>
        </p:txBody>
      </p:sp>
      <p:sp>
        <p:nvSpPr>
          <p:cNvPr id="20" name="Text 18"/>
          <p:cNvSpPr/>
          <p:nvPr/>
        </p:nvSpPr>
        <p:spPr>
          <a:xfrm>
            <a:off x="3291840" y="3666744"/>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Digər (sərbəst mətn sahəsi)</a:t>
            </a:r>
            <a:endParaRPr lang="en-US" sz="1200" dirty="0"/>
          </a:p>
        </p:txBody>
      </p:sp>
      <p:sp>
        <p:nvSpPr>
          <p:cNvPr id="21" name="Text 19"/>
          <p:cNvSpPr/>
          <p:nvPr/>
        </p:nvSpPr>
        <p:spPr>
          <a:xfrm>
            <a:off x="3291840" y="4160520"/>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Davam et / Keç düymələri</a:t>
            </a:r>
            <a:endParaRPr lang="en-US" sz="1200" dirty="0"/>
          </a:p>
        </p:txBody>
      </p:sp>
      <p:sp>
        <p:nvSpPr>
          <p:cNvPr id="22" name="Shape 20"/>
          <p:cNvSpPr/>
          <p:nvPr/>
        </p:nvSpPr>
        <p:spPr>
          <a:xfrm>
            <a:off x="6080760" y="960120"/>
            <a:ext cx="2788920" cy="3886200"/>
          </a:xfrm>
          <a:prstGeom prst="rect">
            <a:avLst/>
          </a:prstGeom>
          <a:solidFill>
            <a:srgbClr val="E2E8F0"/>
          </a:solidFill>
          <a:ln w="12700">
            <a:solidFill>
              <a:srgbClr val="CBD5E1"/>
            </a:solidFill>
            <a:prstDash val="solid"/>
          </a:ln>
          <a:effectLst>
            <a:outerShdw blurRad="101600" dist="38100" dir="8100000" algn="bl" rotWithShape="0">
              <a:srgbClr val="000000">
                <a:alpha val="10000"/>
              </a:srgbClr>
            </a:outerShdw>
          </a:effectLst>
        </p:spPr>
      </p:sp>
      <p:sp>
        <p:nvSpPr>
          <p:cNvPr id="23" name="Shape 21"/>
          <p:cNvSpPr/>
          <p:nvPr/>
        </p:nvSpPr>
        <p:spPr>
          <a:xfrm>
            <a:off x="6080760" y="960120"/>
            <a:ext cx="2788920" cy="640080"/>
          </a:xfrm>
          <a:prstGeom prst="rect">
            <a:avLst/>
          </a:prstGeom>
          <a:solidFill>
            <a:srgbClr val="10B981"/>
          </a:solidFill>
          <a:ln w="12700">
            <a:solidFill>
              <a:srgbClr val="10B981"/>
            </a:solidFill>
            <a:prstDash val="solid"/>
          </a:ln>
        </p:spPr>
      </p:sp>
      <p:sp>
        <p:nvSpPr>
          <p:cNvPr id="24" name="Text 22"/>
          <p:cNvSpPr/>
          <p:nvPr/>
        </p:nvSpPr>
        <p:spPr>
          <a:xfrm>
            <a:off x="6172200" y="1005840"/>
            <a:ext cx="260604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Diet Üstünlüyü</a:t>
            </a:r>
            <a:endParaRPr lang="en-US" sz="1400" dirty="0"/>
          </a:p>
        </p:txBody>
      </p:sp>
      <p:sp>
        <p:nvSpPr>
          <p:cNvPr id="25" name="Text 23"/>
          <p:cNvSpPr/>
          <p:nvPr/>
        </p:nvSpPr>
        <p:spPr>
          <a:xfrm>
            <a:off x="6217920" y="1691640"/>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Vegan  ("Populyar" nişanı)</a:t>
            </a:r>
            <a:endParaRPr lang="en-US" sz="1200" dirty="0"/>
          </a:p>
        </p:txBody>
      </p:sp>
      <p:sp>
        <p:nvSpPr>
          <p:cNvPr id="26" name="Text 24"/>
          <p:cNvSpPr/>
          <p:nvPr/>
        </p:nvSpPr>
        <p:spPr>
          <a:xfrm>
            <a:off x="6217920" y="2185416"/>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Vegetarian</a:t>
            </a:r>
            <a:endParaRPr lang="en-US" sz="1200" dirty="0"/>
          </a:p>
        </p:txBody>
      </p:sp>
      <p:sp>
        <p:nvSpPr>
          <p:cNvPr id="27" name="Text 25"/>
          <p:cNvSpPr/>
          <p:nvPr/>
        </p:nvSpPr>
        <p:spPr>
          <a:xfrm>
            <a:off x="6217920" y="2679192"/>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Keto</a:t>
            </a:r>
            <a:endParaRPr lang="en-US" sz="1200" dirty="0"/>
          </a:p>
        </p:txBody>
      </p:sp>
      <p:sp>
        <p:nvSpPr>
          <p:cNvPr id="28" name="Text 26"/>
          <p:cNvSpPr/>
          <p:nvPr/>
        </p:nvSpPr>
        <p:spPr>
          <a:xfrm>
            <a:off x="6217920" y="3172968"/>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Halal</a:t>
            </a:r>
            <a:endParaRPr lang="en-US" sz="1200" dirty="0"/>
          </a:p>
        </p:txBody>
      </p:sp>
      <p:sp>
        <p:nvSpPr>
          <p:cNvPr id="29" name="Text 27"/>
          <p:cNvSpPr/>
          <p:nvPr/>
        </p:nvSpPr>
        <p:spPr>
          <a:xfrm>
            <a:off x="6217920" y="3666744"/>
            <a:ext cx="2514600" cy="438912"/>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  Quraşdırmanı Bitir / Sonraya Qoy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ANA TƏTBIQ EKRANLARI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Səhifələr 4–7: Ana Ekran, Məkan İcazəsi, Axtarış Nəticələri, Tapılmadı Vəziyyəti</a:t>
            </a:r>
            <a:endParaRPr lang="en-US" sz="1200" dirty="0"/>
          </a:p>
        </p:txBody>
      </p:sp>
      <p:sp>
        <p:nvSpPr>
          <p:cNvPr id="5" name="Shape 3"/>
          <p:cNvSpPr/>
          <p:nvPr/>
        </p:nvSpPr>
        <p:spPr>
          <a:xfrm>
            <a:off x="228600" y="1005840"/>
            <a:ext cx="425196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 name="Text 4"/>
          <p:cNvSpPr/>
          <p:nvPr/>
        </p:nvSpPr>
        <p:spPr>
          <a:xfrm>
            <a:off x="365760" y="1097280"/>
            <a:ext cx="3977640" cy="41148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Ana Ekran</a:t>
            </a:r>
            <a:endParaRPr lang="en-US" sz="1400" dirty="0"/>
          </a:p>
        </p:txBody>
      </p:sp>
      <p:sp>
        <p:nvSpPr>
          <p:cNvPr id="7" name="Text 5"/>
          <p:cNvSpPr/>
          <p:nvPr/>
        </p:nvSpPr>
        <p:spPr>
          <a:xfrm>
            <a:off x="365760" y="1536192"/>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Axtarış paneli üst hissədə</a:t>
            </a:r>
            <a:endParaRPr lang="en-US" sz="1150" dirty="0"/>
          </a:p>
        </p:txBody>
      </p:sp>
      <p:sp>
        <p:nvSpPr>
          <p:cNvPr id="8" name="Text 6"/>
          <p:cNvSpPr/>
          <p:nvPr/>
        </p:nvSpPr>
        <p:spPr>
          <a:xfrm>
            <a:off x="365760" y="1828800"/>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Trend karusel bölməsi</a:t>
            </a:r>
            <a:endParaRPr lang="en-US" sz="1150" dirty="0"/>
          </a:p>
        </p:txBody>
      </p:sp>
      <p:sp>
        <p:nvSpPr>
          <p:cNvPr id="9" name="Text 7"/>
          <p:cNvSpPr/>
          <p:nvPr/>
        </p:nvSpPr>
        <p:spPr>
          <a:xfrm>
            <a:off x="365760" y="2121408"/>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Sizin Üçün / Endirim tabları</a:t>
            </a:r>
            <a:endParaRPr lang="en-US" sz="1150" dirty="0"/>
          </a:p>
        </p:txBody>
      </p:sp>
      <p:sp>
        <p:nvSpPr>
          <p:cNvPr id="10" name="Text 8"/>
          <p:cNvSpPr/>
          <p:nvPr/>
        </p:nvSpPr>
        <p:spPr>
          <a:xfrm>
            <a:off x="365760" y="2414016"/>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Restoran kartları: uyğunluq etiketi + reytinq</a:t>
            </a:r>
            <a:endParaRPr lang="en-US" sz="1150" dirty="0"/>
          </a:p>
        </p:txBody>
      </p:sp>
      <p:sp>
        <p:nvSpPr>
          <p:cNvPr id="11" name="Shape 9"/>
          <p:cNvSpPr/>
          <p:nvPr/>
        </p:nvSpPr>
        <p:spPr>
          <a:xfrm>
            <a:off x="4709160" y="1005840"/>
            <a:ext cx="425196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12" name="Text 10"/>
          <p:cNvSpPr/>
          <p:nvPr/>
        </p:nvSpPr>
        <p:spPr>
          <a:xfrm>
            <a:off x="4846320" y="1097280"/>
            <a:ext cx="3977640" cy="41148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Məkan İcazəsi</a:t>
            </a:r>
            <a:endParaRPr lang="en-US" sz="1400" dirty="0"/>
          </a:p>
        </p:txBody>
      </p:sp>
      <p:sp>
        <p:nvSpPr>
          <p:cNvPr id="13" name="Text 11"/>
          <p:cNvSpPr/>
          <p:nvPr/>
        </p:nvSpPr>
        <p:spPr>
          <a:xfrm>
            <a:off x="4846320" y="1536192"/>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GPS icazə bildirişi (alt panel)</a:t>
            </a:r>
            <a:endParaRPr lang="en-US" sz="1150" dirty="0"/>
          </a:p>
        </p:txBody>
      </p:sp>
      <p:sp>
        <p:nvSpPr>
          <p:cNvPr id="14" name="Text 12"/>
          <p:cNvSpPr/>
          <p:nvPr/>
        </p:nvSpPr>
        <p:spPr>
          <a:xfrm>
            <a:off x="4846320" y="1828800"/>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AI tövsiyə üçün GPS aktivləşdirmə</a:t>
            </a:r>
            <a:endParaRPr lang="en-US" sz="1150" dirty="0"/>
          </a:p>
        </p:txBody>
      </p:sp>
      <p:sp>
        <p:nvSpPr>
          <p:cNvPr id="15" name="Text 13"/>
          <p:cNvSpPr/>
          <p:nvPr/>
        </p:nvSpPr>
        <p:spPr>
          <a:xfrm>
            <a:off x="4846320" y="2121408"/>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İcazə verilsə koordinatlar alınır</a:t>
            </a:r>
            <a:endParaRPr lang="en-US" sz="1150" dirty="0"/>
          </a:p>
        </p:txBody>
      </p:sp>
      <p:sp>
        <p:nvSpPr>
          <p:cNvPr id="16" name="Text 14"/>
          <p:cNvSpPr/>
          <p:nvPr/>
        </p:nvSpPr>
        <p:spPr>
          <a:xfrm>
            <a:off x="4846320" y="2414016"/>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Hava məlumatları real vaxtda yüklənir</a:t>
            </a:r>
            <a:endParaRPr lang="en-US" sz="1150" dirty="0"/>
          </a:p>
        </p:txBody>
      </p:sp>
      <p:sp>
        <p:nvSpPr>
          <p:cNvPr id="17" name="Shape 15"/>
          <p:cNvSpPr/>
          <p:nvPr/>
        </p:nvSpPr>
        <p:spPr>
          <a:xfrm>
            <a:off x="228600" y="2971800"/>
            <a:ext cx="425196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18" name="Text 16"/>
          <p:cNvSpPr/>
          <p:nvPr/>
        </p:nvSpPr>
        <p:spPr>
          <a:xfrm>
            <a:off x="365760" y="3063240"/>
            <a:ext cx="3977640" cy="41148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Axtarış Nəticələri</a:t>
            </a:r>
            <a:endParaRPr lang="en-US" sz="1400" dirty="0"/>
          </a:p>
        </p:txBody>
      </p:sp>
      <p:sp>
        <p:nvSpPr>
          <p:cNvPr id="19" name="Text 17"/>
          <p:cNvSpPr/>
          <p:nvPr/>
        </p:nvSpPr>
        <p:spPr>
          <a:xfrm>
            <a:off x="365760" y="3502152"/>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İlk simvoldan nəticə görsənir</a:t>
            </a:r>
            <a:endParaRPr lang="en-US" sz="1150" dirty="0"/>
          </a:p>
        </p:txBody>
      </p:sp>
      <p:sp>
        <p:nvSpPr>
          <p:cNvPr id="20" name="Text 18"/>
          <p:cNvSpPr/>
          <p:nvPr/>
        </p:nvSpPr>
        <p:spPr>
          <a:xfrm>
            <a:off x="365760" y="3794760"/>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Kateqoriyalar: Hamısı / Restoranlar / Kafe / Desert / İçkilər</a:t>
            </a:r>
            <a:endParaRPr lang="en-US" sz="1150" dirty="0"/>
          </a:p>
        </p:txBody>
      </p:sp>
      <p:sp>
        <p:nvSpPr>
          <p:cNvPr id="21" name="Text 19"/>
          <p:cNvSpPr/>
          <p:nvPr/>
        </p:nvSpPr>
        <p:spPr>
          <a:xfrm>
            <a:off x="365760" y="4087368"/>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Əlaqədar restoran kartları sıralanır</a:t>
            </a:r>
            <a:endParaRPr lang="en-US" sz="1150" dirty="0"/>
          </a:p>
        </p:txBody>
      </p:sp>
      <p:sp>
        <p:nvSpPr>
          <p:cNvPr id="22" name="Shape 20"/>
          <p:cNvSpPr/>
          <p:nvPr/>
        </p:nvSpPr>
        <p:spPr>
          <a:xfrm>
            <a:off x="4709160" y="2971800"/>
            <a:ext cx="4251960" cy="182880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23" name="Text 21"/>
          <p:cNvSpPr/>
          <p:nvPr/>
        </p:nvSpPr>
        <p:spPr>
          <a:xfrm>
            <a:off x="4846320" y="3063240"/>
            <a:ext cx="3977640" cy="41148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Tapılmadı Vəziyyəti</a:t>
            </a:r>
            <a:endParaRPr lang="en-US" sz="1400" dirty="0"/>
          </a:p>
        </p:txBody>
      </p:sp>
      <p:sp>
        <p:nvSpPr>
          <p:cNvPr id="24" name="Text 22"/>
          <p:cNvSpPr/>
          <p:nvPr/>
        </p:nvSpPr>
        <p:spPr>
          <a:xfrm>
            <a:off x="4846320" y="3502152"/>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Dəqiq uyğunluq yoxdursa</a:t>
            </a:r>
            <a:endParaRPr lang="en-US" sz="1150" dirty="0"/>
          </a:p>
        </p:txBody>
      </p:sp>
      <p:sp>
        <p:nvSpPr>
          <p:cNvPr id="25" name="Text 23"/>
          <p:cNvSpPr/>
          <p:nvPr/>
        </p:nvSpPr>
        <p:spPr>
          <a:xfrm>
            <a:off x="4846320" y="3794760"/>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Qismən uyğun nəticələr göstərilir</a:t>
            </a:r>
            <a:endParaRPr lang="en-US" sz="1150" dirty="0"/>
          </a:p>
        </p:txBody>
      </p:sp>
      <p:sp>
        <p:nvSpPr>
          <p:cNvPr id="26" name="Text 24"/>
          <p:cNvSpPr/>
          <p:nvPr/>
        </p:nvSpPr>
        <p:spPr>
          <a:xfrm>
            <a:off x="4846320" y="4087368"/>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Sürətli axtarış çip tövsiyələri</a:t>
            </a:r>
            <a:endParaRPr lang="en-US" sz="1150" dirty="0"/>
          </a:p>
        </p:txBody>
      </p:sp>
      <p:sp>
        <p:nvSpPr>
          <p:cNvPr id="27" name="Text 25"/>
          <p:cNvSpPr/>
          <p:nvPr/>
        </p:nvSpPr>
        <p:spPr>
          <a:xfrm>
            <a:off x="4846320" y="4379976"/>
            <a:ext cx="3977640" cy="274320"/>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Müştəri yönləndirilir, çaşqın qalmır</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AI HANSİ VERİLƏNLƏRİ İSTİFADƏ EDİR?</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Hər fərdiləşdirilmiş tövsiyəni yaratmaq üçün real vaxtda çapraz filtrələnən altı giriş axışı</a:t>
            </a:r>
            <a:endParaRPr lang="en-US" sz="1200" dirty="0"/>
          </a:p>
        </p:txBody>
      </p:sp>
      <p:sp>
        <p:nvSpPr>
          <p:cNvPr id="5" name="Shape 3"/>
          <p:cNvSpPr/>
          <p:nvPr/>
        </p:nvSpPr>
        <p:spPr>
          <a:xfrm>
            <a:off x="182880" y="96012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64008" cy="1874520"/>
          </a:xfrm>
          <a:prstGeom prst="rect">
            <a:avLst/>
          </a:prstGeom>
          <a:solidFill>
            <a:srgbClr val="0D9488"/>
          </a:solidFill>
          <a:ln w="12700">
            <a:solidFill>
              <a:srgbClr val="0D9488"/>
            </a:solidFill>
            <a:prstDash val="solid"/>
          </a:ln>
        </p:spPr>
      </p:sp>
      <p:sp>
        <p:nvSpPr>
          <p:cNvPr id="7" name="Text 5"/>
          <p:cNvSpPr/>
          <p:nvPr/>
        </p:nvSpPr>
        <p:spPr>
          <a:xfrm>
            <a:off x="320040" y="105156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8" name="Text 6"/>
          <p:cNvSpPr/>
          <p:nvPr/>
        </p:nvSpPr>
        <p:spPr>
          <a:xfrm>
            <a:off x="320040" y="146304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Hava API</a:t>
            </a:r>
            <a:endParaRPr lang="en-US" sz="1300" dirty="0"/>
          </a:p>
        </p:txBody>
      </p:sp>
      <p:sp>
        <p:nvSpPr>
          <p:cNvPr id="9" name="Text 7"/>
          <p:cNvSpPr/>
          <p:nvPr/>
        </p:nvSpPr>
        <p:spPr>
          <a:xfrm>
            <a:off x="320040" y="178308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OpenWeatherMap</a:t>
            </a:r>
            <a:endParaRPr lang="en-US" sz="1100" dirty="0"/>
          </a:p>
        </p:txBody>
      </p:sp>
      <p:sp>
        <p:nvSpPr>
          <p:cNvPr id="10" name="Text 8"/>
          <p:cNvSpPr/>
          <p:nvPr/>
        </p:nvSpPr>
        <p:spPr>
          <a:xfrm>
            <a:off x="320040" y="203911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Temperatur (°C), rütubət, hava vəziyyəti. Hər 15 dəqiqədə yenilənir. Dəyişiklik baş verdikdə tövsiyə şəbəkəsi avtomatik yenilənir.</a:t>
            </a:r>
            <a:endParaRPr lang="en-US" sz="1100" dirty="0"/>
          </a:p>
        </p:txBody>
      </p:sp>
      <p:sp>
        <p:nvSpPr>
          <p:cNvPr id="11" name="Shape 9"/>
          <p:cNvSpPr/>
          <p:nvPr/>
        </p:nvSpPr>
        <p:spPr>
          <a:xfrm>
            <a:off x="3154680" y="96012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2" name="Shape 10"/>
          <p:cNvSpPr/>
          <p:nvPr/>
        </p:nvSpPr>
        <p:spPr>
          <a:xfrm>
            <a:off x="3154680" y="960120"/>
            <a:ext cx="64008" cy="1874520"/>
          </a:xfrm>
          <a:prstGeom prst="rect">
            <a:avLst/>
          </a:prstGeom>
          <a:solidFill>
            <a:srgbClr val="0D9488"/>
          </a:solidFill>
          <a:ln w="12700">
            <a:solidFill>
              <a:srgbClr val="0D9488"/>
            </a:solidFill>
            <a:prstDash val="solid"/>
          </a:ln>
        </p:spPr>
      </p:sp>
      <p:sp>
        <p:nvSpPr>
          <p:cNvPr id="13" name="Text 11"/>
          <p:cNvSpPr/>
          <p:nvPr/>
        </p:nvSpPr>
        <p:spPr>
          <a:xfrm>
            <a:off x="3291840" y="105156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4" name="Text 12"/>
          <p:cNvSpPr/>
          <p:nvPr/>
        </p:nvSpPr>
        <p:spPr>
          <a:xfrm>
            <a:off x="3291840" y="146304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Müştəri Profili</a:t>
            </a:r>
            <a:endParaRPr lang="en-US" sz="1300" dirty="0"/>
          </a:p>
        </p:txBody>
      </p:sp>
      <p:sp>
        <p:nvSpPr>
          <p:cNvPr id="15" name="Text 13"/>
          <p:cNvSpPr/>
          <p:nvPr/>
        </p:nvSpPr>
        <p:spPr>
          <a:xfrm>
            <a:off x="3291840" y="178308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Onboarding sorğusu</a:t>
            </a:r>
            <a:endParaRPr lang="en-US" sz="1100" dirty="0"/>
          </a:p>
        </p:txBody>
      </p:sp>
      <p:sp>
        <p:nvSpPr>
          <p:cNvPr id="16" name="Text 14"/>
          <p:cNvSpPr/>
          <p:nvPr/>
        </p:nvSpPr>
        <p:spPr>
          <a:xfrm>
            <a:off x="3291840" y="203911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Allergiya siyahısı (5 standart + sərbəst mətn) və diet rejimi (Vegan/Vegetarian/Keto/Halal/Heç biri). Sessiyalar arası saxlanılır.</a:t>
            </a:r>
            <a:endParaRPr lang="en-US" sz="1100" dirty="0"/>
          </a:p>
        </p:txBody>
      </p:sp>
      <p:sp>
        <p:nvSpPr>
          <p:cNvPr id="17" name="Shape 15"/>
          <p:cNvSpPr/>
          <p:nvPr/>
        </p:nvSpPr>
        <p:spPr>
          <a:xfrm>
            <a:off x="6126480" y="96012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8" name="Shape 16"/>
          <p:cNvSpPr/>
          <p:nvPr/>
        </p:nvSpPr>
        <p:spPr>
          <a:xfrm>
            <a:off x="6126480" y="960120"/>
            <a:ext cx="64008" cy="1874520"/>
          </a:xfrm>
          <a:prstGeom prst="rect">
            <a:avLst/>
          </a:prstGeom>
          <a:solidFill>
            <a:srgbClr val="0D9488"/>
          </a:solidFill>
          <a:ln w="12700">
            <a:solidFill>
              <a:srgbClr val="0D9488"/>
            </a:solidFill>
            <a:prstDash val="solid"/>
          </a:ln>
        </p:spPr>
      </p:sp>
      <p:sp>
        <p:nvSpPr>
          <p:cNvPr id="19" name="Text 17"/>
          <p:cNvSpPr/>
          <p:nvPr/>
        </p:nvSpPr>
        <p:spPr>
          <a:xfrm>
            <a:off x="6263640" y="105156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0" name="Text 18"/>
          <p:cNvSpPr/>
          <p:nvPr/>
        </p:nvSpPr>
        <p:spPr>
          <a:xfrm>
            <a:off x="6263640" y="146304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Sifariş Tarixçəsi</a:t>
            </a:r>
            <a:endParaRPr lang="en-US" sz="1300" dirty="0"/>
          </a:p>
        </p:txBody>
      </p:sp>
      <p:sp>
        <p:nvSpPr>
          <p:cNvPr id="21" name="Text 19"/>
          <p:cNvSpPr/>
          <p:nvPr/>
        </p:nvSpPr>
        <p:spPr>
          <a:xfrm>
            <a:off x="6263640" y="178308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Tətbiq içi qeydlər</a:t>
            </a:r>
            <a:endParaRPr lang="en-US" sz="1100" dirty="0"/>
          </a:p>
        </p:txBody>
      </p:sp>
      <p:sp>
        <p:nvSpPr>
          <p:cNvPr id="22" name="Text 20"/>
          <p:cNvSpPr/>
          <p:nvPr/>
        </p:nvSpPr>
        <p:spPr>
          <a:xfrm>
            <a:off x="6263640" y="203911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Hər təsdiqlənmiş sifariş yemək ID, restoran ID, vaxt damğası və reytinqlə qeyd edilir. Təkrar üstünlüklər aşkar edilir.</a:t>
            </a:r>
            <a:endParaRPr lang="en-US" sz="1100" dirty="0"/>
          </a:p>
        </p:txBody>
      </p:sp>
      <p:sp>
        <p:nvSpPr>
          <p:cNvPr id="23" name="Shape 21"/>
          <p:cNvSpPr/>
          <p:nvPr/>
        </p:nvSpPr>
        <p:spPr>
          <a:xfrm>
            <a:off x="182880" y="297180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Shape 22"/>
          <p:cNvSpPr/>
          <p:nvPr/>
        </p:nvSpPr>
        <p:spPr>
          <a:xfrm>
            <a:off x="182880" y="2971800"/>
            <a:ext cx="64008" cy="1874520"/>
          </a:xfrm>
          <a:prstGeom prst="rect">
            <a:avLst/>
          </a:prstGeom>
          <a:solidFill>
            <a:srgbClr val="0D9488"/>
          </a:solidFill>
          <a:ln w="12700">
            <a:solidFill>
              <a:srgbClr val="0D9488"/>
            </a:solidFill>
            <a:prstDash val="solid"/>
          </a:ln>
        </p:spPr>
      </p:sp>
      <p:sp>
        <p:nvSpPr>
          <p:cNvPr id="25" name="Text 23"/>
          <p:cNvSpPr/>
          <p:nvPr/>
        </p:nvSpPr>
        <p:spPr>
          <a:xfrm>
            <a:off x="320040" y="306324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6" name="Text 24"/>
          <p:cNvSpPr/>
          <p:nvPr/>
        </p:nvSpPr>
        <p:spPr>
          <a:xfrm>
            <a:off x="320040" y="347472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Xərc Həssaslığı</a:t>
            </a:r>
            <a:endParaRPr lang="en-US" sz="1300" dirty="0"/>
          </a:p>
        </p:txBody>
      </p:sp>
      <p:sp>
        <p:nvSpPr>
          <p:cNvPr id="27" name="Text 25"/>
          <p:cNvSpPr/>
          <p:nvPr/>
        </p:nvSpPr>
        <p:spPr>
          <a:xfrm>
            <a:off x="320040" y="379476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Ödəniş tarixçəsi</a:t>
            </a:r>
            <a:endParaRPr lang="en-US" sz="1100" dirty="0"/>
          </a:p>
        </p:txBody>
      </p:sp>
      <p:sp>
        <p:nvSpPr>
          <p:cNvPr id="28" name="Text 26"/>
          <p:cNvSpPr/>
          <p:nvPr/>
        </p:nvSpPr>
        <p:spPr>
          <a:xfrm>
            <a:off x="320040" y="405079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Keçmiş əməliyyatlardan ortalama sifariş dəyəri hesablanır. 15 AZN altında sifariş edən müştəriyə 60 AZN menyu tövsiyə edilmir.</a:t>
            </a:r>
            <a:endParaRPr lang="en-US" sz="1100" dirty="0"/>
          </a:p>
        </p:txBody>
      </p:sp>
      <p:sp>
        <p:nvSpPr>
          <p:cNvPr id="29" name="Shape 27"/>
          <p:cNvSpPr/>
          <p:nvPr/>
        </p:nvSpPr>
        <p:spPr>
          <a:xfrm>
            <a:off x="3154680" y="297180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0" name="Shape 28"/>
          <p:cNvSpPr/>
          <p:nvPr/>
        </p:nvSpPr>
        <p:spPr>
          <a:xfrm>
            <a:off x="3154680" y="2971800"/>
            <a:ext cx="64008" cy="1874520"/>
          </a:xfrm>
          <a:prstGeom prst="rect">
            <a:avLst/>
          </a:prstGeom>
          <a:solidFill>
            <a:srgbClr val="0D9488"/>
          </a:solidFill>
          <a:ln w="12700">
            <a:solidFill>
              <a:srgbClr val="0D9488"/>
            </a:solidFill>
            <a:prstDash val="solid"/>
          </a:ln>
        </p:spPr>
      </p:sp>
      <p:sp>
        <p:nvSpPr>
          <p:cNvPr id="31" name="Text 29"/>
          <p:cNvSpPr/>
          <p:nvPr/>
        </p:nvSpPr>
        <p:spPr>
          <a:xfrm>
            <a:off x="3291840" y="306324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2" name="Text 30"/>
          <p:cNvSpPr/>
          <p:nvPr/>
        </p:nvSpPr>
        <p:spPr>
          <a:xfrm>
            <a:off x="3291840" y="347472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Günün Vaxtı</a:t>
            </a:r>
            <a:endParaRPr lang="en-US" sz="1300" dirty="0"/>
          </a:p>
        </p:txBody>
      </p:sp>
      <p:sp>
        <p:nvSpPr>
          <p:cNvPr id="33" name="Text 31"/>
          <p:cNvSpPr/>
          <p:nvPr/>
        </p:nvSpPr>
        <p:spPr>
          <a:xfrm>
            <a:off x="3291840" y="379476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Sistem saatı</a:t>
            </a:r>
            <a:endParaRPr lang="en-US" sz="1100" dirty="0"/>
          </a:p>
        </p:txBody>
      </p:sp>
      <p:sp>
        <p:nvSpPr>
          <p:cNvPr id="34" name="Text 32"/>
          <p:cNvSpPr/>
          <p:nvPr/>
        </p:nvSpPr>
        <p:spPr>
          <a:xfrm>
            <a:off x="3291840" y="405079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Üç zaman zolağı: Səhər yeməyi 06:00–11:00 / Nahar 12:00–16:00 / Şam 18:00–23:00. Fon köçürücüsü ilə sessiz keçid.</a:t>
            </a:r>
            <a:endParaRPr lang="en-US" sz="1100" dirty="0"/>
          </a:p>
        </p:txBody>
      </p:sp>
      <p:sp>
        <p:nvSpPr>
          <p:cNvPr id="35" name="Shape 33"/>
          <p:cNvSpPr/>
          <p:nvPr/>
        </p:nvSpPr>
        <p:spPr>
          <a:xfrm>
            <a:off x="6126480" y="2971800"/>
            <a:ext cx="2834640" cy="18745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6" name="Shape 34"/>
          <p:cNvSpPr/>
          <p:nvPr/>
        </p:nvSpPr>
        <p:spPr>
          <a:xfrm>
            <a:off x="6126480" y="2971800"/>
            <a:ext cx="64008" cy="1874520"/>
          </a:xfrm>
          <a:prstGeom prst="rect">
            <a:avLst/>
          </a:prstGeom>
          <a:solidFill>
            <a:srgbClr val="0D9488"/>
          </a:solidFill>
          <a:ln w="12700">
            <a:solidFill>
              <a:srgbClr val="0D9488"/>
            </a:solidFill>
            <a:prstDash val="solid"/>
          </a:ln>
        </p:spPr>
      </p:sp>
      <p:sp>
        <p:nvSpPr>
          <p:cNvPr id="37" name="Text 35"/>
          <p:cNvSpPr/>
          <p:nvPr/>
        </p:nvSpPr>
        <p:spPr>
          <a:xfrm>
            <a:off x="6263640" y="3063240"/>
            <a:ext cx="548640" cy="45720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8" name="Text 36"/>
          <p:cNvSpPr/>
          <p:nvPr/>
        </p:nvSpPr>
        <p:spPr>
          <a:xfrm>
            <a:off x="6263640" y="3474720"/>
            <a:ext cx="26060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GPS Məkanı</a:t>
            </a:r>
            <a:endParaRPr lang="en-US" sz="1300" dirty="0"/>
          </a:p>
        </p:txBody>
      </p:sp>
      <p:sp>
        <p:nvSpPr>
          <p:cNvPr id="39" name="Text 37"/>
          <p:cNvSpPr/>
          <p:nvPr/>
        </p:nvSpPr>
        <p:spPr>
          <a:xfrm>
            <a:off x="6263640" y="3794760"/>
            <a:ext cx="2606040" cy="256032"/>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Cihaz GPS (icazə ilə)</a:t>
            </a:r>
            <a:endParaRPr lang="en-US" sz="1100" dirty="0"/>
          </a:p>
        </p:txBody>
      </p:sp>
      <p:sp>
        <p:nvSpPr>
          <p:cNvPr id="40" name="Text 38"/>
          <p:cNvSpPr/>
          <p:nvPr/>
        </p:nvSpPr>
        <p:spPr>
          <a:xfrm>
            <a:off x="6263640" y="4050792"/>
            <a:ext cx="2606040" cy="68580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Koordinatlar backend-ə göndərilir. Restoran yaxınlığını hesablamaq, 'Yaxınımda' tabını filtirləmək üçün istifadə edilir. Üçüncü tərəflə paylaşılmır.</a:t>
            </a:r>
            <a:endParaRPr lang="en-US" sz="1100" dirty="0"/>
          </a:p>
        </p:txBody>
      </p:sp>
      <p:sp>
        <p:nvSpPr>
          <p:cNvPr id="41" name="Text 39"/>
          <p:cNvSpPr/>
          <p:nvPr/>
        </p:nvSpPr>
        <p:spPr>
          <a:xfrm>
            <a:off x="182880" y="4800600"/>
            <a:ext cx="8778240" cy="274320"/>
          </a:xfrm>
          <a:prstGeom prst="rect">
            <a:avLst/>
          </a:prstGeom>
          <a:noFill/>
          <a:ln/>
        </p:spPr>
        <p:txBody>
          <a:bodyPr wrap="square" rtlCol="0" anchor="ctr"/>
          <a:lstStyle/>
          <a:p>
            <a:pPr marL="0" indent="0" algn="ctr">
              <a:buNone/>
            </a:pPr>
            <a:r>
              <a:rPr lang="en-US" sz="1100" b="1" dirty="0">
                <a:solidFill>
                  <a:srgbClr val="0D9488"/>
                </a:solidFill>
                <a:latin typeface="Calibri" pitchFamily="34" charset="0"/>
                <a:ea typeface="Calibri" pitchFamily="34" charset="-122"/>
                <a:cs typeface="Calibri" pitchFamily="34" charset="-120"/>
              </a:rPr>
              <a:t>Bütün 6 giriş çapraz filtr matrisinə daxil edilir:  P1 = Allergiya xaricetmə  |  P2 = Vaxt + Hava uyğunluğu  |  P3 = Diet daxiletmə</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FF6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E40AF"/>
          </a:solidFill>
          <a:ln w="12700">
            <a:solidFill>
              <a:srgbClr val="1E40AF"/>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AI FİLTRLƏMƏ ALGORİTMİ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BFDBFE"/>
                </a:solidFill>
                <a:latin typeface="Calibri" pitchFamily="34" charset="0"/>
                <a:ea typeface="Calibri" pitchFamily="34" charset="-122"/>
                <a:cs typeface="Calibri" pitchFamily="34" charset="-120"/>
              </a:rPr>
              <a:t>Üç prioritetli çapraz filtr matrisi — hər tetikleyici hadisəsində işə düşür</a:t>
            </a:r>
            <a:endParaRPr lang="en-US" sz="1200" dirty="0"/>
          </a:p>
        </p:txBody>
      </p:sp>
      <p:sp>
        <p:nvSpPr>
          <p:cNvPr id="5" name="Shape 3"/>
          <p:cNvSpPr/>
          <p:nvPr/>
        </p:nvSpPr>
        <p:spPr>
          <a:xfrm>
            <a:off x="182880" y="1005840"/>
            <a:ext cx="8778240" cy="11887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228600" y="1234440"/>
            <a:ext cx="685800" cy="685800"/>
          </a:xfrm>
          <a:prstGeom prst="ellipse">
            <a:avLst/>
          </a:prstGeom>
          <a:solidFill>
            <a:srgbClr val="EF4444"/>
          </a:solidFill>
          <a:ln w="12700">
            <a:solidFill>
              <a:srgbClr val="EF4444"/>
            </a:solidFill>
            <a:prstDash val="solid"/>
          </a:ln>
        </p:spPr>
      </p:sp>
      <p:sp>
        <p:nvSpPr>
          <p:cNvPr id="7" name="Text 5"/>
          <p:cNvSpPr/>
          <p:nvPr/>
        </p:nvSpPr>
        <p:spPr>
          <a:xfrm>
            <a:off x="228600" y="123444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P1</a:t>
            </a:r>
            <a:endParaRPr lang="en-US" sz="1800" dirty="0"/>
          </a:p>
        </p:txBody>
      </p:sp>
      <p:sp>
        <p:nvSpPr>
          <p:cNvPr id="8" name="Text 6"/>
          <p:cNvSpPr/>
          <p:nvPr/>
        </p:nvSpPr>
        <p:spPr>
          <a:xfrm>
            <a:off x="1051560" y="1078992"/>
            <a:ext cx="7772400" cy="347472"/>
          </a:xfrm>
          <a:prstGeom prst="rect">
            <a:avLst/>
          </a:prstGeom>
          <a:noFill/>
          <a:ln/>
        </p:spPr>
        <p:txBody>
          <a:bodyPr wrap="square" rtlCol="0" anchor="ctr"/>
          <a:lstStyle/>
          <a:p>
            <a:pPr marL="0" indent="0">
              <a:buNone/>
            </a:pPr>
            <a:r>
              <a:rPr lang="en-US" sz="1400" b="1" dirty="0">
                <a:solidFill>
                  <a:srgbClr val="EF4444"/>
                </a:solidFill>
                <a:latin typeface="Calibri" pitchFamily="34" charset="0"/>
                <a:ea typeface="Calibri" pitchFamily="34" charset="-122"/>
                <a:cs typeface="Calibri" pitchFamily="34" charset="-120"/>
              </a:rPr>
              <a:t>Allergiya Xaricetmə Filtri</a:t>
            </a:r>
            <a:endParaRPr lang="en-US" sz="1400" dirty="0"/>
          </a:p>
        </p:txBody>
      </p:sp>
      <p:sp>
        <p:nvSpPr>
          <p:cNvPr id="9" name="Text 7"/>
          <p:cNvSpPr/>
          <p:nvPr/>
        </p:nvSpPr>
        <p:spPr>
          <a:xfrm>
            <a:off x="1051560" y="1426464"/>
            <a:ext cx="7680960" cy="68580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Bu ən yüksək prioritetli, mütləq filtrdir. Müştərinin allergiya siyahısındakı hər hansı maddəni içərən yemək — ana yem, axtarış nəticəsi, trend bölməsi, restoran menyusu daxil — bütün nəticə dəstlərindən həmişəlik xaric edilir. Süd allergenli müştəriyə kremlı pasta heç vaxt göstərilməz. Bu filtr hava və ya vaxt dəyişiklikləri ilə tetiklənən real vaxt yenilənmələrə də tətbiq edilir.</a:t>
            </a:r>
            <a:endParaRPr lang="en-US" sz="1150" dirty="0"/>
          </a:p>
        </p:txBody>
      </p:sp>
      <p:sp>
        <p:nvSpPr>
          <p:cNvPr id="10" name="Shape 8"/>
          <p:cNvSpPr/>
          <p:nvPr/>
        </p:nvSpPr>
        <p:spPr>
          <a:xfrm>
            <a:off x="182880" y="2331720"/>
            <a:ext cx="8778240" cy="11887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1" name="Shape 9"/>
          <p:cNvSpPr/>
          <p:nvPr/>
        </p:nvSpPr>
        <p:spPr>
          <a:xfrm>
            <a:off x="228600" y="2560320"/>
            <a:ext cx="685800" cy="685800"/>
          </a:xfrm>
          <a:prstGeom prst="ellipse">
            <a:avLst/>
          </a:prstGeom>
          <a:solidFill>
            <a:srgbClr val="F59E0B"/>
          </a:solidFill>
          <a:ln w="12700">
            <a:solidFill>
              <a:srgbClr val="F59E0B"/>
            </a:solidFill>
            <a:prstDash val="solid"/>
          </a:ln>
        </p:spPr>
      </p:sp>
      <p:sp>
        <p:nvSpPr>
          <p:cNvPr id="12" name="Text 10"/>
          <p:cNvSpPr/>
          <p:nvPr/>
        </p:nvSpPr>
        <p:spPr>
          <a:xfrm>
            <a:off x="228600" y="256032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P2</a:t>
            </a:r>
            <a:endParaRPr lang="en-US" sz="1800" dirty="0"/>
          </a:p>
        </p:txBody>
      </p:sp>
      <p:sp>
        <p:nvSpPr>
          <p:cNvPr id="13" name="Text 11"/>
          <p:cNvSpPr/>
          <p:nvPr/>
        </p:nvSpPr>
        <p:spPr>
          <a:xfrm>
            <a:off x="1051560" y="2404872"/>
            <a:ext cx="7772400" cy="347472"/>
          </a:xfrm>
          <a:prstGeom prst="rect">
            <a:avLst/>
          </a:prstGeom>
          <a:noFill/>
          <a:ln/>
        </p:spPr>
        <p:txBody>
          <a:bodyPr wrap="square" rtlCol="0" anchor="ctr"/>
          <a:lstStyle/>
          <a:p>
            <a:pPr marL="0" indent="0">
              <a:buNone/>
            </a:pPr>
            <a:r>
              <a:rPr lang="en-US" sz="1400" b="1" dirty="0">
                <a:solidFill>
                  <a:srgbClr val="F59E0B"/>
                </a:solidFill>
                <a:latin typeface="Calibri" pitchFamily="34" charset="0"/>
                <a:ea typeface="Calibri" pitchFamily="34" charset="-122"/>
                <a:cs typeface="Calibri" pitchFamily="34" charset="-120"/>
              </a:rPr>
              <a:t>Vaxt + Hava Uyğunluğu Filtri</a:t>
            </a:r>
            <a:endParaRPr lang="en-US" sz="1400" dirty="0"/>
          </a:p>
        </p:txBody>
      </p:sp>
      <p:sp>
        <p:nvSpPr>
          <p:cNvPr id="14" name="Text 12"/>
          <p:cNvSpPr/>
          <p:nvPr/>
        </p:nvSpPr>
        <p:spPr>
          <a:xfrm>
            <a:off x="1051560" y="2752344"/>
            <a:ext cx="7680960" cy="68580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İkinci filtr qatı cari ana kontekstual cəhətdən uyğun maddələri seçir. Zaman zolaqları: Səhər yeməyi (06–11) yüngül maddələrə — yumurta, çörək məmulatları, qatıq, qəhvə — üstünlük verir. Nahar (12–16) balanslaşdırılmış əsas yeməklərə üstünlük verir. Şam (18–23) daha dolu yeməkləri irəli çəkir. Hava bunu üst-üstə qoyur: 25°C üzərində soyuq içkilər ağırlıq qazanır; 10°C altı və ya yağışda sup, isti içki ön plana çıxır. Bu kombinasiya hər 15 dəqiqədə yenilənir.</a:t>
            </a:r>
            <a:endParaRPr lang="en-US" sz="1150" dirty="0"/>
          </a:p>
        </p:txBody>
      </p:sp>
      <p:sp>
        <p:nvSpPr>
          <p:cNvPr id="15" name="Shape 13"/>
          <p:cNvSpPr/>
          <p:nvPr/>
        </p:nvSpPr>
        <p:spPr>
          <a:xfrm>
            <a:off x="182880" y="3657600"/>
            <a:ext cx="8778240" cy="1188720"/>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6" name="Shape 14"/>
          <p:cNvSpPr/>
          <p:nvPr/>
        </p:nvSpPr>
        <p:spPr>
          <a:xfrm>
            <a:off x="228600" y="3886200"/>
            <a:ext cx="685800" cy="685800"/>
          </a:xfrm>
          <a:prstGeom prst="ellipse">
            <a:avLst/>
          </a:prstGeom>
          <a:solidFill>
            <a:srgbClr val="10B981"/>
          </a:solidFill>
          <a:ln w="12700">
            <a:solidFill>
              <a:srgbClr val="10B981"/>
            </a:solidFill>
            <a:prstDash val="solid"/>
          </a:ln>
        </p:spPr>
      </p:sp>
      <p:sp>
        <p:nvSpPr>
          <p:cNvPr id="17" name="Text 15"/>
          <p:cNvSpPr/>
          <p:nvPr/>
        </p:nvSpPr>
        <p:spPr>
          <a:xfrm>
            <a:off x="228600" y="3886200"/>
            <a:ext cx="685800" cy="68580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P3</a:t>
            </a:r>
            <a:endParaRPr lang="en-US" sz="1800" dirty="0"/>
          </a:p>
        </p:txBody>
      </p:sp>
      <p:sp>
        <p:nvSpPr>
          <p:cNvPr id="18" name="Text 16"/>
          <p:cNvSpPr/>
          <p:nvPr/>
        </p:nvSpPr>
        <p:spPr>
          <a:xfrm>
            <a:off x="1051560" y="3730752"/>
            <a:ext cx="7772400" cy="347472"/>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Diet Rejimi Daxiletmə Filtri</a:t>
            </a:r>
            <a:endParaRPr lang="en-US" sz="1400" dirty="0"/>
          </a:p>
        </p:txBody>
      </p:sp>
      <p:sp>
        <p:nvSpPr>
          <p:cNvPr id="19" name="Text 17"/>
          <p:cNvSpPr/>
          <p:nvPr/>
        </p:nvSpPr>
        <p:spPr>
          <a:xfrm>
            <a:off x="1051560" y="4078224"/>
            <a:ext cx="7680960" cy="685800"/>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Üçüncü filtr müştərinin diet üslubu ilə uyğun gələn maddələri gücləndirir (xaric etmir). Vegan müştəri bitki əsaslı yeməkləri üst sırada görür. Keto müştərisi yüksək zülal, aşağı karbohidrat maddələrini üstdə görür. Halal müştərilərin yemləndirici panelində yalnız sertifikatlaşdırılmış halal restoranlar irəli çəkilir. Bu daxiletmə sıralama gücləndiricisidir — müştəri uyğun olmayan maddələrə çoxsala bilər, lakin onlar heç vaxt standart ön nəticə olmayacaq.</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HAVA → MENYU MƏNTİQİ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Real vaxt hava vəziyyəti hansı yeməklərin göstərildiyini müəyyən edir — menyu göyə uyğunlaşır</a:t>
            </a:r>
            <a:endParaRPr lang="en-US" sz="1200" dirty="0"/>
          </a:p>
        </p:txBody>
      </p:sp>
      <p:sp>
        <p:nvSpPr>
          <p:cNvPr id="5" name="Shape 3"/>
          <p:cNvSpPr/>
          <p:nvPr/>
        </p:nvSpPr>
        <p:spPr>
          <a:xfrm>
            <a:off x="182880" y="960120"/>
            <a:ext cx="877824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Text 4"/>
          <p:cNvSpPr/>
          <p:nvPr/>
        </p:nvSpPr>
        <p:spPr>
          <a:xfrm>
            <a:off x="228600" y="1024128"/>
            <a:ext cx="548640" cy="54864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7" name="Text 5"/>
          <p:cNvSpPr/>
          <p:nvPr/>
        </p:nvSpPr>
        <p:spPr>
          <a:xfrm>
            <a:off x="719850" y="966087"/>
            <a:ext cx="1920240" cy="320040"/>
          </a:xfrm>
          <a:prstGeom prst="rect">
            <a:avLst/>
          </a:prstGeom>
          <a:noFill/>
          <a:ln/>
        </p:spPr>
        <p:txBody>
          <a:bodyPr wrap="square" rtlCol="0" anchor="ctr"/>
          <a:lstStyle/>
          <a:p>
            <a:pPr marL="0" indent="0">
              <a:buNone/>
            </a:pPr>
            <a:r>
              <a:rPr lang="en-US" sz="1300" b="1" dirty="0">
                <a:solidFill>
                  <a:srgbClr val="F97316"/>
                </a:solidFill>
                <a:latin typeface="Calibri" pitchFamily="34" charset="0"/>
                <a:ea typeface="Calibri" pitchFamily="34" charset="-122"/>
                <a:cs typeface="Calibri" pitchFamily="34" charset="-120"/>
              </a:rPr>
              <a:t>İsti  (&gt;25°C)</a:t>
            </a:r>
            <a:endParaRPr lang="en-US" sz="1300" dirty="0"/>
          </a:p>
        </p:txBody>
      </p:sp>
      <p:sp>
        <p:nvSpPr>
          <p:cNvPr id="8" name="Text 6"/>
          <p:cNvSpPr/>
          <p:nvPr/>
        </p:nvSpPr>
        <p:spPr>
          <a:xfrm>
            <a:off x="719853" y="1291590"/>
            <a:ext cx="2114784" cy="292608"/>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Yüngül, serinləşdirici, az kalorili. İsti hava ağır yeməklərə iştahı azaldır.</a:t>
            </a:r>
            <a:endParaRPr lang="en-US" sz="1050" dirty="0"/>
          </a:p>
        </p:txBody>
      </p:sp>
      <p:sp>
        <p:nvSpPr>
          <p:cNvPr id="9" name="Shape 7"/>
          <p:cNvSpPr/>
          <p:nvPr/>
        </p:nvSpPr>
        <p:spPr>
          <a:xfrm>
            <a:off x="2854095" y="1097280"/>
            <a:ext cx="0" cy="502920"/>
          </a:xfrm>
          <a:prstGeom prst="line">
            <a:avLst/>
          </a:prstGeom>
          <a:noFill/>
          <a:ln w="12700">
            <a:solidFill>
              <a:srgbClr val="E2E8F0"/>
            </a:solidFill>
            <a:prstDash val="solid"/>
          </a:ln>
        </p:spPr>
      </p:sp>
      <p:sp>
        <p:nvSpPr>
          <p:cNvPr id="10" name="Text 8"/>
          <p:cNvSpPr/>
          <p:nvPr/>
        </p:nvSpPr>
        <p:spPr>
          <a:xfrm>
            <a:off x="2926080" y="1024128"/>
            <a:ext cx="5943600" cy="59436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Smoothi, salat, acai bowl, dondurma, buzlu latte, cold brew qəhvə, qazpaço</a:t>
            </a:r>
            <a:endParaRPr lang="en-US" sz="1200" dirty="0"/>
          </a:p>
        </p:txBody>
      </p:sp>
      <p:sp>
        <p:nvSpPr>
          <p:cNvPr id="11" name="Shape 9"/>
          <p:cNvSpPr/>
          <p:nvPr/>
        </p:nvSpPr>
        <p:spPr>
          <a:xfrm>
            <a:off x="182880" y="1764792"/>
            <a:ext cx="877824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2" name="Text 10"/>
          <p:cNvSpPr/>
          <p:nvPr/>
        </p:nvSpPr>
        <p:spPr>
          <a:xfrm>
            <a:off x="228600" y="1828800"/>
            <a:ext cx="548640" cy="54864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3" name="Text 11"/>
          <p:cNvSpPr/>
          <p:nvPr/>
        </p:nvSpPr>
        <p:spPr>
          <a:xfrm>
            <a:off x="719853" y="1751076"/>
            <a:ext cx="1920240" cy="320040"/>
          </a:xfrm>
          <a:prstGeom prst="rect">
            <a:avLst/>
          </a:prstGeom>
          <a:noFill/>
          <a:ln/>
        </p:spPr>
        <p:txBody>
          <a:bodyPr wrap="square" rtlCol="0" anchor="ctr"/>
          <a:lstStyle/>
          <a:p>
            <a:pPr marL="0" indent="0">
              <a:buNone/>
            </a:pPr>
            <a:r>
              <a:rPr lang="en-US" sz="1300" b="1" dirty="0">
                <a:solidFill>
                  <a:srgbClr val="6366F1"/>
                </a:solidFill>
                <a:latin typeface="Calibri" pitchFamily="34" charset="0"/>
                <a:ea typeface="Calibri" pitchFamily="34" charset="-122"/>
                <a:cs typeface="Calibri" pitchFamily="34" charset="-120"/>
              </a:rPr>
              <a:t>Yağışlı</a:t>
            </a:r>
            <a:endParaRPr lang="en-US" sz="1300" dirty="0"/>
          </a:p>
        </p:txBody>
      </p:sp>
      <p:sp>
        <p:nvSpPr>
          <p:cNvPr id="14" name="Text 12"/>
          <p:cNvSpPr/>
          <p:nvPr/>
        </p:nvSpPr>
        <p:spPr>
          <a:xfrm>
            <a:off x="719850" y="2125980"/>
            <a:ext cx="2114787" cy="292608"/>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Yağışlı hava rahatlıq yeməklərinə psixoloji meyl yaradır. İsti yeməklər emosional olaraq razı edir.</a:t>
            </a:r>
            <a:endParaRPr lang="en-US" sz="1050" dirty="0"/>
          </a:p>
        </p:txBody>
      </p:sp>
      <p:sp>
        <p:nvSpPr>
          <p:cNvPr id="15" name="Shape 13"/>
          <p:cNvSpPr/>
          <p:nvPr/>
        </p:nvSpPr>
        <p:spPr>
          <a:xfrm>
            <a:off x="2854095" y="1901952"/>
            <a:ext cx="0" cy="502920"/>
          </a:xfrm>
          <a:prstGeom prst="line">
            <a:avLst/>
          </a:prstGeom>
          <a:noFill/>
          <a:ln w="12700">
            <a:solidFill>
              <a:srgbClr val="E2E8F0"/>
            </a:solidFill>
            <a:prstDash val="solid"/>
          </a:ln>
        </p:spPr>
      </p:sp>
      <p:sp>
        <p:nvSpPr>
          <p:cNvPr id="16" name="Text 14"/>
          <p:cNvSpPr/>
          <p:nvPr/>
        </p:nvSpPr>
        <p:spPr>
          <a:xfrm>
            <a:off x="2926080" y="1828800"/>
            <a:ext cx="5943600" cy="59436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Pomidor supu, soğan supu, pho, çörək məmulatları, isti şokolad, bitki çayı, qızardılmış sendviç</a:t>
            </a:r>
            <a:endParaRPr lang="en-US" sz="1200" dirty="0"/>
          </a:p>
        </p:txBody>
      </p:sp>
      <p:sp>
        <p:nvSpPr>
          <p:cNvPr id="17" name="Shape 15"/>
          <p:cNvSpPr/>
          <p:nvPr/>
        </p:nvSpPr>
        <p:spPr>
          <a:xfrm>
            <a:off x="182880" y="2569464"/>
            <a:ext cx="877824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8" name="Text 16"/>
          <p:cNvSpPr/>
          <p:nvPr/>
        </p:nvSpPr>
        <p:spPr>
          <a:xfrm>
            <a:off x="228600" y="2633472"/>
            <a:ext cx="548640" cy="54864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9" name="Text 17"/>
          <p:cNvSpPr/>
          <p:nvPr/>
        </p:nvSpPr>
        <p:spPr>
          <a:xfrm>
            <a:off x="719853" y="2551176"/>
            <a:ext cx="1920240" cy="320040"/>
          </a:xfrm>
          <a:prstGeom prst="rect">
            <a:avLst/>
          </a:prstGeom>
          <a:noFill/>
          <a:ln/>
        </p:spPr>
        <p:txBody>
          <a:bodyPr wrap="square" rtlCol="0" anchor="ctr"/>
          <a:lstStyle/>
          <a:p>
            <a:pPr marL="0" indent="0">
              <a:buNone/>
            </a:pPr>
            <a:r>
              <a:rPr lang="en-US" sz="1300" b="1" dirty="0">
                <a:solidFill>
                  <a:srgbClr val="0EA5E9"/>
                </a:solidFill>
                <a:latin typeface="Calibri" pitchFamily="34" charset="0"/>
                <a:ea typeface="Calibri" pitchFamily="34" charset="-122"/>
                <a:cs typeface="Calibri" pitchFamily="34" charset="-120"/>
              </a:rPr>
              <a:t>Soyuq  (&lt;10°C)</a:t>
            </a:r>
            <a:endParaRPr lang="en-US" sz="1300" dirty="0"/>
          </a:p>
        </p:txBody>
      </p:sp>
      <p:sp>
        <p:nvSpPr>
          <p:cNvPr id="20" name="Text 18"/>
          <p:cNvSpPr/>
          <p:nvPr/>
        </p:nvSpPr>
        <p:spPr>
          <a:xfrm>
            <a:off x="719853" y="2907792"/>
            <a:ext cx="2023999" cy="292608"/>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Soyuq kaloriyə olan tələbatı artırır. Yüksək enerji verən, qızdırıcı yemək üstün tutulur.</a:t>
            </a:r>
            <a:endParaRPr lang="en-US" sz="1050" dirty="0"/>
          </a:p>
        </p:txBody>
      </p:sp>
      <p:sp>
        <p:nvSpPr>
          <p:cNvPr id="21" name="Shape 19"/>
          <p:cNvSpPr/>
          <p:nvPr/>
        </p:nvSpPr>
        <p:spPr>
          <a:xfrm>
            <a:off x="2854095" y="2706624"/>
            <a:ext cx="0" cy="502920"/>
          </a:xfrm>
          <a:prstGeom prst="line">
            <a:avLst/>
          </a:prstGeom>
          <a:noFill/>
          <a:ln w="12700">
            <a:solidFill>
              <a:srgbClr val="E2E8F0"/>
            </a:solidFill>
            <a:prstDash val="solid"/>
          </a:ln>
        </p:spPr>
      </p:sp>
      <p:sp>
        <p:nvSpPr>
          <p:cNvPr id="22" name="Text 20"/>
          <p:cNvSpPr/>
          <p:nvPr/>
        </p:nvSpPr>
        <p:spPr>
          <a:xfrm>
            <a:off x="2926080" y="2633472"/>
            <a:ext cx="5943600" cy="59436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Mal əti güveçi, isti şokolad, kuzu kəsmik, sümük suyu, kremlı pasta, risotto</a:t>
            </a:r>
            <a:endParaRPr lang="en-US" sz="1200" dirty="0"/>
          </a:p>
        </p:txBody>
      </p:sp>
      <p:sp>
        <p:nvSpPr>
          <p:cNvPr id="23" name="Shape 21"/>
          <p:cNvSpPr/>
          <p:nvPr/>
        </p:nvSpPr>
        <p:spPr>
          <a:xfrm>
            <a:off x="182880" y="3374136"/>
            <a:ext cx="877824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4" name="Text 22"/>
          <p:cNvSpPr/>
          <p:nvPr/>
        </p:nvSpPr>
        <p:spPr>
          <a:xfrm>
            <a:off x="228600" y="3438144"/>
            <a:ext cx="548640" cy="54864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5" name="Text 23"/>
          <p:cNvSpPr/>
          <p:nvPr/>
        </p:nvSpPr>
        <p:spPr>
          <a:xfrm>
            <a:off x="719850" y="3355848"/>
            <a:ext cx="1920240" cy="320040"/>
          </a:xfrm>
          <a:prstGeom prst="rect">
            <a:avLst/>
          </a:prstGeom>
          <a:noFill/>
          <a:ln/>
        </p:spPr>
        <p:txBody>
          <a:bodyPr wrap="square" rtlCol="0" anchor="ctr"/>
          <a:lstStyle/>
          <a:p>
            <a:pPr marL="0" indent="0">
              <a:buNone/>
            </a:pPr>
            <a:r>
              <a:rPr lang="en-US" sz="1300" b="1" dirty="0">
                <a:solidFill>
                  <a:srgbClr val="10B981"/>
                </a:solidFill>
                <a:latin typeface="Calibri" pitchFamily="34" charset="0"/>
                <a:ea typeface="Calibri" pitchFamily="34" charset="-122"/>
                <a:cs typeface="Calibri" pitchFamily="34" charset="-120"/>
              </a:rPr>
              <a:t>Mülayim  (10–25°C)</a:t>
            </a:r>
            <a:endParaRPr lang="en-US" sz="1300" dirty="0"/>
          </a:p>
        </p:txBody>
      </p:sp>
      <p:sp>
        <p:nvSpPr>
          <p:cNvPr id="26" name="Text 24"/>
          <p:cNvSpPr/>
          <p:nvPr/>
        </p:nvSpPr>
        <p:spPr>
          <a:xfrm>
            <a:off x="719853" y="3723748"/>
            <a:ext cx="2023347" cy="292608"/>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Balanslaşdırılmış iştah. Universal menyu — sistem diet üstünlüyünü əsas sıralama kimi istifadə edir.</a:t>
            </a:r>
            <a:endParaRPr lang="en-US" sz="1050" dirty="0"/>
          </a:p>
        </p:txBody>
      </p:sp>
      <p:sp>
        <p:nvSpPr>
          <p:cNvPr id="27" name="Shape 25"/>
          <p:cNvSpPr/>
          <p:nvPr/>
        </p:nvSpPr>
        <p:spPr>
          <a:xfrm>
            <a:off x="2854095" y="3511296"/>
            <a:ext cx="0" cy="502920"/>
          </a:xfrm>
          <a:prstGeom prst="line">
            <a:avLst/>
          </a:prstGeom>
          <a:noFill/>
          <a:ln w="12700">
            <a:solidFill>
              <a:srgbClr val="E2E8F0"/>
            </a:solidFill>
            <a:prstDash val="solid"/>
          </a:ln>
        </p:spPr>
      </p:sp>
      <p:sp>
        <p:nvSpPr>
          <p:cNvPr id="28" name="Text 26"/>
          <p:cNvSpPr/>
          <p:nvPr/>
        </p:nvSpPr>
        <p:spPr>
          <a:xfrm>
            <a:off x="2926080" y="3438144"/>
            <a:ext cx="5943600" cy="59436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Pasta, club sendviç, taxıl qabları, yastı çörək, limonad, yüngül şirniyyatlar</a:t>
            </a:r>
            <a:endParaRPr lang="en-US" sz="1200" dirty="0"/>
          </a:p>
        </p:txBody>
      </p:sp>
      <p:sp>
        <p:nvSpPr>
          <p:cNvPr id="29" name="Shape 27"/>
          <p:cNvSpPr/>
          <p:nvPr/>
        </p:nvSpPr>
        <p:spPr>
          <a:xfrm>
            <a:off x="182880" y="4178808"/>
            <a:ext cx="8778240" cy="74980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30" name="Text 28"/>
          <p:cNvSpPr/>
          <p:nvPr/>
        </p:nvSpPr>
        <p:spPr>
          <a:xfrm>
            <a:off x="228600" y="4242816"/>
            <a:ext cx="548640" cy="548640"/>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1" name="Text 29"/>
          <p:cNvSpPr/>
          <p:nvPr/>
        </p:nvSpPr>
        <p:spPr>
          <a:xfrm>
            <a:off x="771406" y="4171804"/>
            <a:ext cx="1920240" cy="320040"/>
          </a:xfrm>
          <a:prstGeom prst="rect">
            <a:avLst/>
          </a:prstGeom>
          <a:noFill/>
          <a:ln/>
        </p:spPr>
        <p:txBody>
          <a:bodyPr wrap="square" rtlCol="0" anchor="ctr"/>
          <a:lstStyle/>
          <a:p>
            <a:pPr marL="0" indent="0">
              <a:buNone/>
            </a:pPr>
            <a:r>
              <a:rPr lang="en-US" sz="1300" b="1" dirty="0">
                <a:solidFill>
                  <a:srgbClr val="8B5CF6"/>
                </a:solidFill>
                <a:latin typeface="Calibri" pitchFamily="34" charset="0"/>
                <a:ea typeface="Calibri" pitchFamily="34" charset="-122"/>
                <a:cs typeface="Calibri" pitchFamily="34" charset="-120"/>
              </a:rPr>
              <a:t>Küləkli / Tutqun</a:t>
            </a:r>
            <a:endParaRPr lang="en-US" sz="1300" dirty="0"/>
          </a:p>
        </p:txBody>
      </p:sp>
      <p:sp>
        <p:nvSpPr>
          <p:cNvPr id="32" name="Text 30"/>
          <p:cNvSpPr/>
          <p:nvPr/>
        </p:nvSpPr>
        <p:spPr>
          <a:xfrm>
            <a:off x="764920" y="4519795"/>
            <a:ext cx="2218223" cy="292608"/>
          </a:xfrm>
          <a:prstGeom prst="rect">
            <a:avLst/>
          </a:prstGeom>
          <a:noFill/>
          <a:ln/>
        </p:spPr>
        <p:txBody>
          <a:bodyPr wrap="square" rtlCol="0" anchor="ctr"/>
          <a:lstStyle/>
          <a:p>
            <a:pPr marL="0" indent="0">
              <a:buNone/>
            </a:pPr>
            <a:r>
              <a:rPr lang="en-US" sz="1050" i="1" dirty="0">
                <a:solidFill>
                  <a:srgbClr val="64748B"/>
                </a:solidFill>
                <a:latin typeface="Calibri" pitchFamily="34" charset="0"/>
                <a:ea typeface="Calibri" pitchFamily="34" charset="-122"/>
                <a:cs typeface="Calibri" pitchFamily="34" charset="-120"/>
              </a:rPr>
              <a:t>Külək uzun açıq oturumu çətinləşdirir. Sistem sürətli servis, çıxarış üçün uyğun seçimlərə üstünlük verir.</a:t>
            </a:r>
            <a:endParaRPr lang="en-US" sz="1050" dirty="0"/>
          </a:p>
        </p:txBody>
      </p:sp>
      <p:sp>
        <p:nvSpPr>
          <p:cNvPr id="33" name="Shape 31"/>
          <p:cNvSpPr/>
          <p:nvPr/>
        </p:nvSpPr>
        <p:spPr>
          <a:xfrm>
            <a:off x="2854095" y="4315968"/>
            <a:ext cx="0" cy="502920"/>
          </a:xfrm>
          <a:prstGeom prst="line">
            <a:avLst/>
          </a:prstGeom>
          <a:noFill/>
          <a:ln w="12700">
            <a:solidFill>
              <a:srgbClr val="E2E8F0"/>
            </a:solidFill>
            <a:prstDash val="solid"/>
          </a:ln>
        </p:spPr>
      </p:sp>
      <p:sp>
        <p:nvSpPr>
          <p:cNvPr id="34" name="Text 32"/>
          <p:cNvSpPr/>
          <p:nvPr/>
        </p:nvSpPr>
        <p:spPr>
          <a:xfrm>
            <a:off x="2926080" y="4242816"/>
            <a:ext cx="5943600" cy="59436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Filtr qəhvə, espresso, sürətli atıştırmalar, lavroş, protein barı, götür-qaç yeməkləri</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12970"/>
            <a:ext cx="9144000" cy="830095"/>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LAYİHƏ TƏLƏBLƏRİ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3 kateqoriyada 10 tələb — Biznes, Funksional, Qeyri-Funksional</a:t>
            </a:r>
            <a:endParaRPr lang="en-US" sz="1200" dirty="0"/>
          </a:p>
        </p:txBody>
      </p:sp>
      <p:sp>
        <p:nvSpPr>
          <p:cNvPr id="5" name="Shape 3"/>
          <p:cNvSpPr/>
          <p:nvPr/>
        </p:nvSpPr>
        <p:spPr>
          <a:xfrm>
            <a:off x="182880" y="856686"/>
            <a:ext cx="8778240" cy="347471"/>
          </a:xfrm>
          <a:prstGeom prst="rect">
            <a:avLst/>
          </a:prstGeom>
          <a:solidFill>
            <a:srgbClr val="1E40AF"/>
          </a:solidFill>
          <a:ln w="12700">
            <a:solidFill>
              <a:srgbClr val="1E40AF"/>
            </a:solidFill>
            <a:prstDash val="solid"/>
          </a:ln>
        </p:spPr>
      </p:sp>
      <p:sp>
        <p:nvSpPr>
          <p:cNvPr id="6" name="Text 4"/>
          <p:cNvSpPr/>
          <p:nvPr/>
        </p:nvSpPr>
        <p:spPr>
          <a:xfrm>
            <a:off x="274320" y="835413"/>
            <a:ext cx="85039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BİZNES TƏLƏBLƏRİ  (BR)</a:t>
            </a:r>
            <a:endParaRPr lang="en-US" sz="1400" dirty="0"/>
          </a:p>
        </p:txBody>
      </p:sp>
      <p:sp>
        <p:nvSpPr>
          <p:cNvPr id="7" name="Text 5"/>
          <p:cNvSpPr/>
          <p:nvPr/>
        </p:nvSpPr>
        <p:spPr>
          <a:xfrm>
            <a:off x="119005" y="1227763"/>
            <a:ext cx="8503920" cy="347472"/>
          </a:xfrm>
          <a:prstGeom prst="rect">
            <a:avLst/>
          </a:prstGeom>
          <a:noFill/>
          <a:ln/>
        </p:spPr>
        <p:txBody>
          <a:bodyPr wrap="square" rtlCol="0" anchor="ctr"/>
          <a:lstStyle/>
          <a:p>
            <a:pPr marL="0" indent="0">
              <a:buNone/>
            </a:pPr>
            <a:r>
              <a:rPr lang="en-US" sz="1150" dirty="0">
                <a:solidFill>
                  <a:srgbClr val="0F172A"/>
                </a:solidFill>
                <a:latin typeface="Calibri" pitchFamily="34" charset="0"/>
                <a:ea typeface="Calibri" pitchFamily="34" charset="-122"/>
                <a:cs typeface="Calibri" pitchFamily="34" charset="-120"/>
              </a:rPr>
              <a:t>BR-1: Sistem real vaxt hava məlumatları, allergiya profili, diet rejimi, sifariş tarixçəsi və GPS məkanına əsasən tam fərdiləşdirilmiş menyu tövsiyəsi verməlidir — hər tetikleyici hadisəsində avtomatik yenilənməklə.</a:t>
            </a:r>
            <a:endParaRPr lang="en-US" sz="1150" dirty="0"/>
          </a:p>
        </p:txBody>
      </p:sp>
      <p:sp>
        <p:nvSpPr>
          <p:cNvPr id="8" name="Text 6"/>
          <p:cNvSpPr/>
          <p:nvPr/>
        </p:nvSpPr>
        <p:spPr>
          <a:xfrm>
            <a:off x="119005" y="1611811"/>
            <a:ext cx="8503920" cy="347472"/>
          </a:xfrm>
          <a:prstGeom prst="rect">
            <a:avLst/>
          </a:prstGeom>
          <a:noFill/>
          <a:ln/>
        </p:spPr>
        <p:txBody>
          <a:bodyPr wrap="square" rtlCol="0" anchor="ctr"/>
          <a:lstStyle/>
          <a:p>
            <a:pPr marL="0" indent="0">
              <a:buNone/>
            </a:pPr>
            <a:r>
              <a:rPr lang="en-US" sz="1150" dirty="0">
                <a:solidFill>
                  <a:srgbClr val="0F172A"/>
                </a:solidFill>
                <a:latin typeface="Calibri" pitchFamily="34" charset="0"/>
                <a:ea typeface="Calibri" pitchFamily="34" charset="-122"/>
                <a:cs typeface="Calibri" pitchFamily="34" charset="-120"/>
              </a:rPr>
              <a:t>BR-2: Müştərinin bəyan etdiyi allergiyaya uyğun maddəni içərən hər hansı menyu maddəsi bütün tövsiyə səthlərindən — ana yem, axtarış, trend və restoran menyusu — avtomatik xaric edilməlidir.</a:t>
            </a:r>
            <a:endParaRPr lang="en-US" sz="1150" dirty="0"/>
          </a:p>
        </p:txBody>
      </p:sp>
      <p:sp>
        <p:nvSpPr>
          <p:cNvPr id="9" name="Text 7"/>
          <p:cNvSpPr/>
          <p:nvPr/>
        </p:nvSpPr>
        <p:spPr>
          <a:xfrm>
            <a:off x="119005" y="1995859"/>
            <a:ext cx="8503920" cy="347472"/>
          </a:xfrm>
          <a:prstGeom prst="rect">
            <a:avLst/>
          </a:prstGeom>
          <a:noFill/>
          <a:ln/>
        </p:spPr>
        <p:txBody>
          <a:bodyPr wrap="square" rtlCol="0" anchor="ctr"/>
          <a:lstStyle/>
          <a:p>
            <a:pPr marL="0" indent="0">
              <a:buNone/>
            </a:pPr>
            <a:r>
              <a:rPr lang="en-US" sz="1150" dirty="0">
                <a:solidFill>
                  <a:srgbClr val="0F172A"/>
                </a:solidFill>
                <a:latin typeface="Calibri" pitchFamily="34" charset="0"/>
                <a:ea typeface="Calibri" pitchFamily="34" charset="-122"/>
                <a:cs typeface="Calibri" pitchFamily="34" charset="-120"/>
              </a:rPr>
              <a:t>BR-3: Sistem fiziki kart çapını əvəz edən rəqəmsal loyallıq kartı (10 dairəli möhür kartı) təqdim etməlidir — ≥10 AZN olan 10 uyğun sifarişi tamamladıqdan sonra müştəriyə pulsuz maddə verilir.</a:t>
            </a:r>
            <a:endParaRPr lang="en-US" sz="1150" dirty="0"/>
          </a:p>
        </p:txBody>
      </p:sp>
      <p:sp>
        <p:nvSpPr>
          <p:cNvPr id="10" name="Shape 8"/>
          <p:cNvSpPr/>
          <p:nvPr/>
        </p:nvSpPr>
        <p:spPr>
          <a:xfrm>
            <a:off x="182880" y="2395536"/>
            <a:ext cx="8778240" cy="347472"/>
          </a:xfrm>
          <a:prstGeom prst="rect">
            <a:avLst/>
          </a:prstGeom>
          <a:solidFill>
            <a:srgbClr val="0D9488"/>
          </a:solidFill>
          <a:ln w="12700">
            <a:solidFill>
              <a:srgbClr val="0D9488"/>
            </a:solidFill>
            <a:prstDash val="solid"/>
          </a:ln>
        </p:spPr>
      </p:sp>
      <p:sp>
        <p:nvSpPr>
          <p:cNvPr id="11" name="Text 9"/>
          <p:cNvSpPr/>
          <p:nvPr/>
        </p:nvSpPr>
        <p:spPr>
          <a:xfrm>
            <a:off x="320040" y="2395536"/>
            <a:ext cx="85039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FUNKSİONAL TƏLƏBLƏRi  (FR)</a:t>
            </a:r>
            <a:endParaRPr lang="en-US" sz="1400" dirty="0"/>
          </a:p>
        </p:txBody>
      </p:sp>
      <p:sp>
        <p:nvSpPr>
          <p:cNvPr id="12" name="Text 10"/>
          <p:cNvSpPr/>
          <p:nvPr/>
        </p:nvSpPr>
        <p:spPr>
          <a:xfrm>
            <a:off x="125491" y="2786069"/>
            <a:ext cx="8503920" cy="292608"/>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FR-1: Giriş üç metodu dəstəkləməlidir: Google OAuth, 4 rəqəmli SMS OTP (60 saniyelik geri sayım, vaxt bitdikdən sonra yenidən göndərmə) ilə Telefon Nömrəsi və Qonaq rejimi (yalnız oxuma, sifariş yoxdur).</a:t>
            </a:r>
            <a:endParaRPr lang="en-US" sz="1100" dirty="0"/>
          </a:p>
        </p:txBody>
      </p:sp>
      <p:sp>
        <p:nvSpPr>
          <p:cNvPr id="13" name="Text 11"/>
          <p:cNvSpPr/>
          <p:nvPr/>
        </p:nvSpPr>
        <p:spPr>
          <a:xfrm>
            <a:off x="131974" y="3125564"/>
            <a:ext cx="9012025" cy="292608"/>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FR-2: Real vaxt hava API hər 15 dəqiqədə sorulmalıdır. Uyğun hava vəziyyəti dəyişiklikdə ana tövsiyə şəbəkəsi tam səhifə yenilənməsi olmadan yenilənməlidir.</a:t>
            </a:r>
            <a:endParaRPr lang="en-US" sz="1100" dirty="0"/>
          </a:p>
        </p:txBody>
      </p:sp>
      <p:sp>
        <p:nvSpPr>
          <p:cNvPr id="14" name="Text 12"/>
          <p:cNvSpPr/>
          <p:nvPr/>
        </p:nvSpPr>
        <p:spPr>
          <a:xfrm>
            <a:off x="131975" y="3472519"/>
            <a:ext cx="8960144" cy="292608"/>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FR-3: Tövsiyə şəbəkəsi fon köçürücüsü əsasında vaxt zolağı kontekstini (Səhər/Nahar/Şam) keçirməlidir. Keçid qüsursuz olmalıdır — yükləmə fırlandıcısı, səhifə yanıb-sönməsi yoxdur.</a:t>
            </a:r>
            <a:endParaRPr lang="en-US" sz="1100" dirty="0"/>
          </a:p>
        </p:txBody>
      </p:sp>
      <p:sp>
        <p:nvSpPr>
          <p:cNvPr id="15" name="Text 13"/>
          <p:cNvSpPr/>
          <p:nvPr/>
        </p:nvSpPr>
        <p:spPr>
          <a:xfrm>
            <a:off x="157915" y="3739704"/>
            <a:ext cx="8503920" cy="292608"/>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FR-4: Sifariş sonrası ulduz reytinqi (1–5) verilənlər bazasında saxlanmalı və qiymətləndirilmiş restoranı yenidən sıralamaq üçün istifadə edilməlidir.</a:t>
            </a:r>
            <a:endParaRPr lang="en-US" sz="1100" dirty="0"/>
          </a:p>
        </p:txBody>
      </p:sp>
      <p:sp>
        <p:nvSpPr>
          <p:cNvPr id="16" name="Text 14"/>
          <p:cNvSpPr/>
          <p:nvPr/>
        </p:nvSpPr>
        <p:spPr>
          <a:xfrm>
            <a:off x="157915" y="3964870"/>
            <a:ext cx="8503920" cy="292608"/>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FR-5: Axtarış ilk yazılan simvoldan nəticə qaytarmalıdır. Dəqiq uyğunluq tapılmasa, qismən uyğunluqlar göstərilməlidir.</a:t>
            </a:r>
            <a:endParaRPr lang="en-US" sz="1100" dirty="0"/>
          </a:p>
        </p:txBody>
      </p:sp>
      <p:sp>
        <p:nvSpPr>
          <p:cNvPr id="17" name="Shape 15"/>
          <p:cNvSpPr/>
          <p:nvPr/>
        </p:nvSpPr>
        <p:spPr>
          <a:xfrm>
            <a:off x="182880" y="4241590"/>
            <a:ext cx="8778240" cy="347472"/>
          </a:xfrm>
          <a:prstGeom prst="rect">
            <a:avLst/>
          </a:prstGeom>
          <a:solidFill>
            <a:srgbClr val="10B981"/>
          </a:solidFill>
          <a:ln w="12700">
            <a:solidFill>
              <a:srgbClr val="10B981"/>
            </a:solidFill>
            <a:prstDash val="solid"/>
          </a:ln>
        </p:spPr>
      </p:sp>
      <p:sp>
        <p:nvSpPr>
          <p:cNvPr id="18" name="Text 16"/>
          <p:cNvSpPr/>
          <p:nvPr/>
        </p:nvSpPr>
        <p:spPr>
          <a:xfrm>
            <a:off x="320040" y="4241590"/>
            <a:ext cx="8503920" cy="38404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QEYRİ-FUNKSİONAL TƏLƏBLƏRi  (NFR)</a:t>
            </a:r>
            <a:endParaRPr lang="en-US" sz="1400" dirty="0"/>
          </a:p>
        </p:txBody>
      </p:sp>
      <p:sp>
        <p:nvSpPr>
          <p:cNvPr id="19" name="Text 17"/>
          <p:cNvSpPr/>
          <p:nvPr/>
        </p:nvSpPr>
        <p:spPr>
          <a:xfrm>
            <a:off x="196824" y="4627130"/>
            <a:ext cx="8778239" cy="457200"/>
          </a:xfrm>
          <a:prstGeom prst="rect">
            <a:avLst/>
          </a:prstGeom>
          <a:noFill/>
          <a:ln/>
        </p:spPr>
        <p:txBody>
          <a:bodyPr wrap="square" rtlCol="0" anchor="ctr"/>
          <a:lstStyle/>
          <a:p>
            <a:pPr marL="0" indent="0">
              <a:buNone/>
            </a:pPr>
            <a:r>
              <a:rPr lang="en-US" sz="1100" dirty="0">
                <a:solidFill>
                  <a:srgbClr val="0F172A"/>
                </a:solidFill>
                <a:latin typeface="Calibri" pitchFamily="34" charset="0"/>
                <a:ea typeface="Calibri" pitchFamily="34" charset="-122"/>
                <a:cs typeface="Calibri" pitchFamily="34" charset="-120"/>
              </a:rPr>
              <a:t>NFR-1: Fərdiləşdirilmiş tövsiyə siyahısı P95 gecikmə ilə ölçülən şəkildə tətbiq açılışından 3 saniyə ərzində göstərilməlidir.   NFR-2: Bütün şəxsi məlumatlar AES-256 / TLS 1.3 ilə şifrələnməlidir. Ödəniş məlumatları PCI-DSS Səviyyəsi 1 üzrə tokenləşdirilməlidir.</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SİSTEM GİRİŞLƏRİ VƏ ÇIXIŞLARI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FoodSense sisteminə daxil olan və çıxan məlumatların tam sənədləşdirilməsi</a:t>
            </a:r>
            <a:endParaRPr lang="en-US" sz="1200" dirty="0"/>
          </a:p>
        </p:txBody>
      </p:sp>
      <p:sp>
        <p:nvSpPr>
          <p:cNvPr id="5" name="Shape 3"/>
          <p:cNvSpPr/>
          <p:nvPr/>
        </p:nvSpPr>
        <p:spPr>
          <a:xfrm>
            <a:off x="182880" y="960120"/>
            <a:ext cx="4160520" cy="365760"/>
          </a:xfrm>
          <a:prstGeom prst="rect">
            <a:avLst/>
          </a:prstGeom>
          <a:solidFill>
            <a:srgbClr val="1E40AF"/>
          </a:solidFill>
          <a:ln w="12700">
            <a:solidFill>
              <a:srgbClr val="1E40AF"/>
            </a:solidFill>
            <a:prstDash val="solid"/>
          </a:ln>
        </p:spPr>
      </p:sp>
      <p:sp>
        <p:nvSpPr>
          <p:cNvPr id="6" name="Text 4"/>
          <p:cNvSpPr/>
          <p:nvPr/>
        </p:nvSpPr>
        <p:spPr>
          <a:xfrm>
            <a:off x="274320" y="960120"/>
            <a:ext cx="39776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GİRİŞLƏR</a:t>
            </a:r>
            <a:endParaRPr lang="en-US" sz="1400" dirty="0"/>
          </a:p>
        </p:txBody>
      </p:sp>
      <p:sp>
        <p:nvSpPr>
          <p:cNvPr id="7" name="Text 5"/>
          <p:cNvSpPr/>
          <p:nvPr/>
        </p:nvSpPr>
        <p:spPr>
          <a:xfrm>
            <a:off x="274320" y="1371600"/>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İstifadəçi Məlumatları</a:t>
            </a:r>
            <a:endParaRPr lang="en-US" sz="1200" dirty="0"/>
          </a:p>
        </p:txBody>
      </p:sp>
      <p:sp>
        <p:nvSpPr>
          <p:cNvPr id="8" name="Text 6"/>
          <p:cNvSpPr/>
          <p:nvPr/>
        </p:nvSpPr>
        <p:spPr>
          <a:xfrm>
            <a:off x="274320" y="1627632"/>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Ad, soyad, telefon, e-poçt. Kimlik, bildiriş yönləndirmə və loyallıq izləmə üçün.</a:t>
            </a:r>
            <a:endParaRPr lang="en-US" sz="1100" dirty="0"/>
          </a:p>
        </p:txBody>
      </p:sp>
      <p:sp>
        <p:nvSpPr>
          <p:cNvPr id="9" name="Text 7"/>
          <p:cNvSpPr/>
          <p:nvPr/>
        </p:nvSpPr>
        <p:spPr>
          <a:xfrm>
            <a:off x="274320" y="1947672"/>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Rezervasiya</a:t>
            </a:r>
            <a:endParaRPr lang="en-US" sz="1200" dirty="0"/>
          </a:p>
        </p:txBody>
      </p:sp>
      <p:sp>
        <p:nvSpPr>
          <p:cNvPr id="10" name="Text 8"/>
          <p:cNvSpPr/>
          <p:nvPr/>
        </p:nvSpPr>
        <p:spPr>
          <a:xfrm>
            <a:off x="274320" y="2203704"/>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İstənilən tarix, vaxt yuvası (məs. 19:00–21:00), qonaq sayı.</a:t>
            </a:r>
            <a:endParaRPr lang="en-US" sz="1100" dirty="0"/>
          </a:p>
        </p:txBody>
      </p:sp>
      <p:sp>
        <p:nvSpPr>
          <p:cNvPr id="11" name="Text 9"/>
          <p:cNvSpPr/>
          <p:nvPr/>
        </p:nvSpPr>
        <p:spPr>
          <a:xfrm>
            <a:off x="274320" y="2523744"/>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Stol Seçimi</a:t>
            </a:r>
            <a:endParaRPr lang="en-US" sz="1200" dirty="0"/>
          </a:p>
        </p:txBody>
      </p:sp>
      <p:sp>
        <p:nvSpPr>
          <p:cNvPr id="12" name="Text 10"/>
          <p:cNvSpPr/>
          <p:nvPr/>
        </p:nvSpPr>
        <p:spPr>
          <a:xfrm>
            <a:off x="274320" y="2779776"/>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Müştəri virtual interaktiv xəritədən seçir — Əsas Salon, VIP, Terras. Canlı mövcudluq göstərilir.</a:t>
            </a:r>
            <a:endParaRPr lang="en-US" sz="1100" dirty="0"/>
          </a:p>
        </p:txBody>
      </p:sp>
      <p:sp>
        <p:nvSpPr>
          <p:cNvPr id="13" name="Text 11"/>
          <p:cNvSpPr/>
          <p:nvPr/>
        </p:nvSpPr>
        <p:spPr>
          <a:xfrm>
            <a:off x="274320" y="3099816"/>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Sifariş Məlumatı</a:t>
            </a:r>
            <a:endParaRPr lang="en-US" sz="1200" dirty="0"/>
          </a:p>
        </p:txBody>
      </p:sp>
      <p:sp>
        <p:nvSpPr>
          <p:cNvPr id="14" name="Text 12"/>
          <p:cNvSpPr/>
          <p:nvPr/>
        </p:nvSpPr>
        <p:spPr>
          <a:xfrm>
            <a:off x="274320" y="3355848"/>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Rəqəmsal menyudan seçilmiş yeməklər. Xüsusi aşpaz qeydləri maddə üzrə əlavə edilir.</a:t>
            </a:r>
            <a:endParaRPr lang="en-US" sz="1100" dirty="0"/>
          </a:p>
        </p:txBody>
      </p:sp>
      <p:sp>
        <p:nvSpPr>
          <p:cNvPr id="15" name="Text 13"/>
          <p:cNvSpPr/>
          <p:nvPr/>
        </p:nvSpPr>
        <p:spPr>
          <a:xfrm>
            <a:off x="274320" y="3675888"/>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QR Skan</a:t>
            </a:r>
            <a:endParaRPr lang="en-US" sz="1200" dirty="0"/>
          </a:p>
        </p:txBody>
      </p:sp>
      <p:sp>
        <p:nvSpPr>
          <p:cNvPr id="16" name="Text 14"/>
          <p:cNvSpPr/>
          <p:nvPr/>
        </p:nvSpPr>
        <p:spPr>
          <a:xfrm>
            <a:off x="274320" y="3931920"/>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Müştəri stolun QR stikerini skan edir. Sistem stol ID-sini avtomatik müəyyən edir.</a:t>
            </a:r>
            <a:endParaRPr lang="en-US" sz="1100" dirty="0"/>
          </a:p>
        </p:txBody>
      </p:sp>
      <p:sp>
        <p:nvSpPr>
          <p:cNvPr id="17" name="Text 15"/>
          <p:cNvSpPr/>
          <p:nvPr/>
        </p:nvSpPr>
        <p:spPr>
          <a:xfrm>
            <a:off x="274320" y="4251960"/>
            <a:ext cx="397764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Ödəniş</a:t>
            </a:r>
            <a:endParaRPr lang="en-US" sz="1200" dirty="0"/>
          </a:p>
        </p:txBody>
      </p:sp>
      <p:sp>
        <p:nvSpPr>
          <p:cNvPr id="18" name="Text 16"/>
          <p:cNvSpPr/>
          <p:nvPr/>
        </p:nvSpPr>
        <p:spPr>
          <a:xfrm>
            <a:off x="274320" y="4507992"/>
            <a:ext cx="3977640" cy="274320"/>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Kart nömrəsi, son tarix, CVV — PCI-DSS üzrə dərhal tokenləşdirilir. Xam kart məlumatı heç vaxt saxlanmır.</a:t>
            </a:r>
            <a:endParaRPr lang="en-US" sz="1100" dirty="0"/>
          </a:p>
        </p:txBody>
      </p:sp>
      <p:sp>
        <p:nvSpPr>
          <p:cNvPr id="19" name="Shape 17"/>
          <p:cNvSpPr/>
          <p:nvPr/>
        </p:nvSpPr>
        <p:spPr>
          <a:xfrm>
            <a:off x="4617720" y="960120"/>
            <a:ext cx="4343400" cy="365760"/>
          </a:xfrm>
          <a:prstGeom prst="rect">
            <a:avLst/>
          </a:prstGeom>
          <a:solidFill>
            <a:srgbClr val="10B981"/>
          </a:solidFill>
          <a:ln w="12700">
            <a:solidFill>
              <a:srgbClr val="10B981"/>
            </a:solidFill>
            <a:prstDash val="solid"/>
          </a:ln>
        </p:spPr>
      </p:sp>
      <p:sp>
        <p:nvSpPr>
          <p:cNvPr id="20" name="Text 18"/>
          <p:cNvSpPr/>
          <p:nvPr/>
        </p:nvSpPr>
        <p:spPr>
          <a:xfrm>
            <a:off x="4709160" y="960120"/>
            <a:ext cx="416052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ÇIXIŞLAR</a:t>
            </a:r>
            <a:endParaRPr lang="en-US" sz="1400" dirty="0"/>
          </a:p>
        </p:txBody>
      </p:sp>
      <p:sp>
        <p:nvSpPr>
          <p:cNvPr id="21" name="Text 19"/>
          <p:cNvSpPr/>
          <p:nvPr/>
        </p:nvSpPr>
        <p:spPr>
          <a:xfrm>
            <a:off x="4709160" y="1371600"/>
            <a:ext cx="416052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Rezervasiya Təsdiqnaməsi</a:t>
            </a:r>
            <a:endParaRPr lang="en-US" sz="1200" dirty="0"/>
          </a:p>
        </p:txBody>
      </p:sp>
      <p:sp>
        <p:nvSpPr>
          <p:cNvPr id="22" name="Text 20"/>
          <p:cNvSpPr/>
          <p:nvPr/>
        </p:nvSpPr>
        <p:spPr>
          <a:xfrm>
            <a:off x="4709160" y="1627632"/>
            <a:ext cx="4160520" cy="39319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SMS + tətbiq bildirişi ilə skan edilə bilən QR bilet. Ödəniş təsdiqindən saniyələr ərzində çatdırılır.</a:t>
            </a:r>
            <a:endParaRPr lang="en-US" sz="1100" dirty="0"/>
          </a:p>
        </p:txBody>
      </p:sp>
      <p:sp>
        <p:nvSpPr>
          <p:cNvPr id="23" name="Text 21"/>
          <p:cNvSpPr/>
          <p:nvPr/>
        </p:nvSpPr>
        <p:spPr>
          <a:xfrm>
            <a:off x="4709160" y="2066544"/>
            <a:ext cx="416052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Rəqəmsal Qəbz</a:t>
            </a:r>
            <a:endParaRPr lang="en-US" sz="1200" dirty="0"/>
          </a:p>
        </p:txBody>
      </p:sp>
      <p:sp>
        <p:nvSpPr>
          <p:cNvPr id="24" name="Text 22"/>
          <p:cNvSpPr/>
          <p:nvPr/>
        </p:nvSpPr>
        <p:spPr>
          <a:xfrm>
            <a:off x="4709160" y="2322576"/>
            <a:ext cx="4160520" cy="39319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Rəsmi spesifikasiyalı elektron qəbz müştərinin e-poçtuna və telefonuna göndərilir.</a:t>
            </a:r>
            <a:endParaRPr lang="en-US" sz="1100" dirty="0"/>
          </a:p>
        </p:txBody>
      </p:sp>
      <p:sp>
        <p:nvSpPr>
          <p:cNvPr id="25" name="Text 23"/>
          <p:cNvSpPr/>
          <p:nvPr/>
        </p:nvSpPr>
        <p:spPr>
          <a:xfrm>
            <a:off x="4709160" y="2761488"/>
            <a:ext cx="416052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Mətbəx Bildirişi</a:t>
            </a:r>
            <a:endParaRPr lang="en-US" sz="1200" dirty="0"/>
          </a:p>
        </p:txBody>
      </p:sp>
      <p:sp>
        <p:nvSpPr>
          <p:cNvPr id="26" name="Text 24"/>
          <p:cNvSpPr/>
          <p:nvPr/>
        </p:nvSpPr>
        <p:spPr>
          <a:xfrm>
            <a:off x="4709160" y="3017520"/>
            <a:ext cx="4160520" cy="39319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Rəngli, prioritetləndirilmiş sifariş kartı KDS (Mətbəx Ekran Sistemi) ekranında görünür.</a:t>
            </a:r>
            <a:endParaRPr lang="en-US" sz="1100" dirty="0"/>
          </a:p>
        </p:txBody>
      </p:sp>
      <p:sp>
        <p:nvSpPr>
          <p:cNvPr id="27" name="Text 25"/>
          <p:cNvSpPr/>
          <p:nvPr/>
        </p:nvSpPr>
        <p:spPr>
          <a:xfrm>
            <a:off x="4709160" y="3456432"/>
            <a:ext cx="416052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Ofisiant Bildirişi</a:t>
            </a:r>
            <a:endParaRPr lang="en-US" sz="1200" dirty="0"/>
          </a:p>
        </p:txBody>
      </p:sp>
      <p:sp>
        <p:nvSpPr>
          <p:cNvPr id="28" name="Text 26"/>
          <p:cNvSpPr/>
          <p:nvPr/>
        </p:nvSpPr>
        <p:spPr>
          <a:xfrm>
            <a:off x="4709160" y="3712464"/>
            <a:ext cx="4160520" cy="39319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Ofisiantın ağıllı saatına/planşetinə push bildiriş: 'Stol 5 yeni sifariş verdi'.</a:t>
            </a:r>
            <a:endParaRPr lang="en-US" sz="1100" dirty="0"/>
          </a:p>
        </p:txBody>
      </p:sp>
      <p:sp>
        <p:nvSpPr>
          <p:cNvPr id="29" name="Text 27"/>
          <p:cNvSpPr/>
          <p:nvPr/>
        </p:nvSpPr>
        <p:spPr>
          <a:xfrm>
            <a:off x="4709160" y="4151376"/>
            <a:ext cx="4160520" cy="256032"/>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  Analitika</a:t>
            </a:r>
            <a:endParaRPr lang="en-US" sz="1200" dirty="0"/>
          </a:p>
        </p:txBody>
      </p:sp>
      <p:sp>
        <p:nvSpPr>
          <p:cNvPr id="30" name="Text 28"/>
          <p:cNvSpPr/>
          <p:nvPr/>
        </p:nvSpPr>
        <p:spPr>
          <a:xfrm>
            <a:off x="4709160" y="4407408"/>
            <a:ext cx="4160520" cy="393192"/>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Menencer paneli: gündəllik/həftəlik/aylıq gəlir qrafikləri, TOP-10 yemək, pik saat istilik xəritəsi, allergiya bayraqları.</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AS-IS vs TO-BE PROSESS</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Köhnə manual restoran iş axışının tam rəqəmsallaşdırılmış FoodSense axışına çevrilməsi</a:t>
            </a:r>
            <a:endParaRPr lang="en-US" sz="1200" dirty="0"/>
          </a:p>
        </p:txBody>
      </p:sp>
      <p:sp>
        <p:nvSpPr>
          <p:cNvPr id="5" name="Shape 3"/>
          <p:cNvSpPr/>
          <p:nvPr/>
        </p:nvSpPr>
        <p:spPr>
          <a:xfrm>
            <a:off x="182880" y="960120"/>
            <a:ext cx="4160520" cy="384048"/>
          </a:xfrm>
          <a:prstGeom prst="rect">
            <a:avLst/>
          </a:prstGeom>
          <a:solidFill>
            <a:srgbClr val="EF4444"/>
          </a:solidFill>
          <a:ln w="12700">
            <a:solidFill>
              <a:srgbClr val="EF4444"/>
            </a:solidFill>
            <a:prstDash val="solid"/>
          </a:ln>
        </p:spPr>
      </p:sp>
      <p:sp>
        <p:nvSpPr>
          <p:cNvPr id="6" name="Text 4"/>
          <p:cNvSpPr/>
          <p:nvPr/>
        </p:nvSpPr>
        <p:spPr>
          <a:xfrm>
            <a:off x="274320" y="960120"/>
            <a:ext cx="397764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AS-IS  — Manual Proses (Bu Gün)</a:t>
            </a:r>
            <a:endParaRPr lang="en-US" sz="1300" dirty="0"/>
          </a:p>
        </p:txBody>
      </p:sp>
      <p:sp>
        <p:nvSpPr>
          <p:cNvPr id="7" name="Shape 5"/>
          <p:cNvSpPr/>
          <p:nvPr/>
        </p:nvSpPr>
        <p:spPr>
          <a:xfrm>
            <a:off x="228600" y="1417320"/>
            <a:ext cx="411480" cy="411480"/>
          </a:xfrm>
          <a:prstGeom prst="ellipse">
            <a:avLst/>
          </a:prstGeom>
          <a:solidFill>
            <a:srgbClr val="EF4444"/>
          </a:solidFill>
          <a:ln w="12700">
            <a:solidFill>
              <a:srgbClr val="EF4444"/>
            </a:solidFill>
            <a:prstDash val="solid"/>
          </a:ln>
        </p:spPr>
      </p:sp>
      <p:sp>
        <p:nvSpPr>
          <p:cNvPr id="8" name="Text 6"/>
          <p:cNvSpPr/>
          <p:nvPr/>
        </p:nvSpPr>
        <p:spPr>
          <a:xfrm>
            <a:off x="228600" y="14173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p:nvPr/>
        </p:nvSpPr>
        <p:spPr>
          <a:xfrm>
            <a:off x="731520" y="1417320"/>
            <a:ext cx="35204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Telefon/DM rezervasiya</a:t>
            </a:r>
            <a:endParaRPr lang="en-US" sz="1300" dirty="0"/>
          </a:p>
        </p:txBody>
      </p:sp>
      <p:sp>
        <p:nvSpPr>
          <p:cNvPr id="10" name="Text 8"/>
          <p:cNvSpPr/>
          <p:nvPr/>
        </p:nvSpPr>
        <p:spPr>
          <a:xfrm>
            <a:off x="731520" y="1691640"/>
            <a:ext cx="35204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zəng edir və ya Instagram/WhatsApp-da mesaj göndərir. Təsdiq sistemi yoxdur — yalnız şifahi söz.</a:t>
            </a:r>
            <a:endParaRPr lang="en-US" sz="1150" dirty="0"/>
          </a:p>
        </p:txBody>
      </p:sp>
      <p:sp>
        <p:nvSpPr>
          <p:cNvPr id="11" name="Shape 9"/>
          <p:cNvSpPr/>
          <p:nvPr/>
        </p:nvSpPr>
        <p:spPr>
          <a:xfrm>
            <a:off x="228600" y="2313432"/>
            <a:ext cx="411480" cy="411480"/>
          </a:xfrm>
          <a:prstGeom prst="ellipse">
            <a:avLst/>
          </a:prstGeom>
          <a:solidFill>
            <a:srgbClr val="EF4444"/>
          </a:solidFill>
          <a:ln w="12700">
            <a:solidFill>
              <a:srgbClr val="EF4444"/>
            </a:solidFill>
            <a:prstDash val="solid"/>
          </a:ln>
        </p:spPr>
      </p:sp>
      <p:sp>
        <p:nvSpPr>
          <p:cNvPr id="12" name="Text 10"/>
          <p:cNvSpPr/>
          <p:nvPr/>
        </p:nvSpPr>
        <p:spPr>
          <a:xfrm>
            <a:off x="228600" y="231343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p:nvPr/>
        </p:nvSpPr>
        <p:spPr>
          <a:xfrm>
            <a:off x="731520" y="2313432"/>
            <a:ext cx="35204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Kağız/Excel axtarışı</a:t>
            </a:r>
            <a:endParaRPr lang="en-US" sz="1300" dirty="0"/>
          </a:p>
        </p:txBody>
      </p:sp>
      <p:sp>
        <p:nvSpPr>
          <p:cNvPr id="14" name="Text 12"/>
          <p:cNvSpPr/>
          <p:nvPr/>
        </p:nvSpPr>
        <p:spPr>
          <a:xfrm>
            <a:off x="731520" y="2587752"/>
            <a:ext cx="35204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Admin dəftərçə və ya cədvəldə boş stol axtarır. Real vaxt sinxronizasiya yoxdur — ikili rezervasiya baş verir.</a:t>
            </a:r>
            <a:endParaRPr lang="en-US" sz="1150" dirty="0"/>
          </a:p>
        </p:txBody>
      </p:sp>
      <p:sp>
        <p:nvSpPr>
          <p:cNvPr id="15" name="Shape 13"/>
          <p:cNvSpPr/>
          <p:nvPr/>
        </p:nvSpPr>
        <p:spPr>
          <a:xfrm>
            <a:off x="228600" y="3209544"/>
            <a:ext cx="411480" cy="411480"/>
          </a:xfrm>
          <a:prstGeom prst="ellipse">
            <a:avLst/>
          </a:prstGeom>
          <a:solidFill>
            <a:srgbClr val="EF4444"/>
          </a:solidFill>
          <a:ln w="12700">
            <a:solidFill>
              <a:srgbClr val="EF4444"/>
            </a:solidFill>
            <a:prstDash val="solid"/>
          </a:ln>
        </p:spPr>
      </p:sp>
      <p:sp>
        <p:nvSpPr>
          <p:cNvPr id="16" name="Text 14"/>
          <p:cNvSpPr/>
          <p:nvPr/>
        </p:nvSpPr>
        <p:spPr>
          <a:xfrm>
            <a:off x="228600" y="3209544"/>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p:nvPr/>
        </p:nvSpPr>
        <p:spPr>
          <a:xfrm>
            <a:off x="731520" y="3209544"/>
            <a:ext cx="35204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Fiziki menyu + əl yazısı</a:t>
            </a:r>
            <a:endParaRPr lang="en-US" sz="1300" dirty="0"/>
          </a:p>
        </p:txBody>
      </p:sp>
      <p:sp>
        <p:nvSpPr>
          <p:cNvPr id="18" name="Text 16"/>
          <p:cNvSpPr/>
          <p:nvPr/>
        </p:nvSpPr>
        <p:spPr>
          <a:xfrm>
            <a:off x="731520" y="3483864"/>
            <a:ext cx="35204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gəlir, ofisiantın fiziki menyu gətirməsini gözləyir. Ofisiant sifarişi əl ilə yazır. Səhvlər adi haldır.</a:t>
            </a:r>
            <a:endParaRPr lang="en-US" sz="1150" dirty="0"/>
          </a:p>
        </p:txBody>
      </p:sp>
      <p:sp>
        <p:nvSpPr>
          <p:cNvPr id="19" name="Shape 17"/>
          <p:cNvSpPr/>
          <p:nvPr/>
        </p:nvSpPr>
        <p:spPr>
          <a:xfrm>
            <a:off x="228600" y="4105656"/>
            <a:ext cx="411480" cy="411480"/>
          </a:xfrm>
          <a:prstGeom prst="ellipse">
            <a:avLst/>
          </a:prstGeom>
          <a:solidFill>
            <a:srgbClr val="EF4444"/>
          </a:solidFill>
          <a:ln w="12700">
            <a:solidFill>
              <a:srgbClr val="EF4444"/>
            </a:solidFill>
            <a:prstDash val="solid"/>
          </a:ln>
        </p:spPr>
      </p:sp>
      <p:sp>
        <p:nvSpPr>
          <p:cNvPr id="20" name="Text 18"/>
          <p:cNvSpPr/>
          <p:nvPr/>
        </p:nvSpPr>
        <p:spPr>
          <a:xfrm>
            <a:off x="228600" y="410565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731520" y="4105656"/>
            <a:ext cx="35204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POS terminal ödənişi</a:t>
            </a:r>
            <a:endParaRPr lang="en-US" sz="1300" dirty="0"/>
          </a:p>
        </p:txBody>
      </p:sp>
      <p:sp>
        <p:nvSpPr>
          <p:cNvPr id="22" name="Text 20"/>
          <p:cNvSpPr/>
          <p:nvPr/>
        </p:nvSpPr>
        <p:spPr>
          <a:xfrm>
            <a:off x="731520" y="4379976"/>
            <a:ext cx="35204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hesab gözləyir, ofisiant kağız hesab gətirir, POS maşın gəlir. Hər stol üçün 15–20 əlavə dəqiqə itirilir.</a:t>
            </a:r>
            <a:endParaRPr lang="en-US" sz="1150" dirty="0"/>
          </a:p>
        </p:txBody>
      </p:sp>
      <p:sp>
        <p:nvSpPr>
          <p:cNvPr id="23" name="Shape 21"/>
          <p:cNvSpPr/>
          <p:nvPr/>
        </p:nvSpPr>
        <p:spPr>
          <a:xfrm>
            <a:off x="4617720" y="960120"/>
            <a:ext cx="4343400" cy="384048"/>
          </a:xfrm>
          <a:prstGeom prst="rect">
            <a:avLst/>
          </a:prstGeom>
          <a:solidFill>
            <a:srgbClr val="10B981"/>
          </a:solidFill>
          <a:ln w="12700">
            <a:solidFill>
              <a:srgbClr val="10B981"/>
            </a:solidFill>
            <a:prstDash val="solid"/>
          </a:ln>
        </p:spPr>
      </p:sp>
      <p:sp>
        <p:nvSpPr>
          <p:cNvPr id="24" name="Text 22"/>
          <p:cNvSpPr/>
          <p:nvPr/>
        </p:nvSpPr>
        <p:spPr>
          <a:xfrm>
            <a:off x="4709160" y="960120"/>
            <a:ext cx="4160520" cy="384048"/>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  TO-BE  — FoodSense Rəqəmsal Axışı</a:t>
            </a:r>
            <a:endParaRPr lang="en-US" sz="1300" dirty="0"/>
          </a:p>
        </p:txBody>
      </p:sp>
      <p:sp>
        <p:nvSpPr>
          <p:cNvPr id="25" name="Shape 23"/>
          <p:cNvSpPr/>
          <p:nvPr/>
        </p:nvSpPr>
        <p:spPr>
          <a:xfrm>
            <a:off x="4663440" y="1417320"/>
            <a:ext cx="411480" cy="411480"/>
          </a:xfrm>
          <a:prstGeom prst="ellipse">
            <a:avLst/>
          </a:prstGeom>
          <a:solidFill>
            <a:srgbClr val="10B981"/>
          </a:solidFill>
          <a:ln w="12700">
            <a:solidFill>
              <a:srgbClr val="10B981"/>
            </a:solidFill>
            <a:prstDash val="solid"/>
          </a:ln>
        </p:spPr>
      </p:sp>
      <p:sp>
        <p:nvSpPr>
          <p:cNvPr id="26" name="Text 24"/>
          <p:cNvSpPr/>
          <p:nvPr/>
        </p:nvSpPr>
        <p:spPr>
          <a:xfrm>
            <a:off x="4663440" y="1417320"/>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7" name="Text 25"/>
          <p:cNvSpPr/>
          <p:nvPr/>
        </p:nvSpPr>
        <p:spPr>
          <a:xfrm>
            <a:off x="5166360" y="1417320"/>
            <a:ext cx="37490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Onlayn rezervasiya</a:t>
            </a:r>
            <a:endParaRPr lang="en-US" sz="1300" dirty="0"/>
          </a:p>
        </p:txBody>
      </p:sp>
      <p:sp>
        <p:nvSpPr>
          <p:cNvPr id="28" name="Text 26"/>
          <p:cNvSpPr/>
          <p:nvPr/>
        </p:nvSpPr>
        <p:spPr>
          <a:xfrm>
            <a:off x="5166360" y="1691640"/>
            <a:ext cx="37490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tətbiqdə tarix, vaxt yuvası və stol seçir. Ani SMS + QR bilet təsdiqi alır.</a:t>
            </a:r>
            <a:endParaRPr lang="en-US" sz="1150" dirty="0"/>
          </a:p>
        </p:txBody>
      </p:sp>
      <p:sp>
        <p:nvSpPr>
          <p:cNvPr id="29" name="Shape 27"/>
          <p:cNvSpPr/>
          <p:nvPr/>
        </p:nvSpPr>
        <p:spPr>
          <a:xfrm>
            <a:off x="4663440" y="2313432"/>
            <a:ext cx="411480" cy="411480"/>
          </a:xfrm>
          <a:prstGeom prst="ellipse">
            <a:avLst/>
          </a:prstGeom>
          <a:solidFill>
            <a:srgbClr val="10B981"/>
          </a:solidFill>
          <a:ln w="12700">
            <a:solidFill>
              <a:srgbClr val="10B981"/>
            </a:solidFill>
            <a:prstDash val="solid"/>
          </a:ln>
        </p:spPr>
      </p:sp>
      <p:sp>
        <p:nvSpPr>
          <p:cNvPr id="30" name="Text 28"/>
          <p:cNvSpPr/>
          <p:nvPr/>
        </p:nvSpPr>
        <p:spPr>
          <a:xfrm>
            <a:off x="4663440" y="2313432"/>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1" name="Text 29"/>
          <p:cNvSpPr/>
          <p:nvPr/>
        </p:nvSpPr>
        <p:spPr>
          <a:xfrm>
            <a:off x="5166360" y="2313432"/>
            <a:ext cx="37490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Avtomatik stol kilidi</a:t>
            </a:r>
            <a:endParaRPr lang="en-US" sz="1300" dirty="0"/>
          </a:p>
        </p:txBody>
      </p:sp>
      <p:sp>
        <p:nvSpPr>
          <p:cNvPr id="32" name="Text 30"/>
          <p:cNvSpPr/>
          <p:nvPr/>
        </p:nvSpPr>
        <p:spPr>
          <a:xfrm>
            <a:off x="5166360" y="2587752"/>
            <a:ext cx="37490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Seçilmiş stol verilənlər bazasında dərhal bloklanır. Kart depoziti tutulur. İkili rezervasiya texniki olaraq qeyri-mümkündür.</a:t>
            </a:r>
            <a:endParaRPr lang="en-US" sz="1150" dirty="0"/>
          </a:p>
        </p:txBody>
      </p:sp>
      <p:sp>
        <p:nvSpPr>
          <p:cNvPr id="33" name="Shape 31"/>
          <p:cNvSpPr/>
          <p:nvPr/>
        </p:nvSpPr>
        <p:spPr>
          <a:xfrm>
            <a:off x="4663440" y="3209544"/>
            <a:ext cx="411480" cy="411480"/>
          </a:xfrm>
          <a:prstGeom prst="ellipse">
            <a:avLst/>
          </a:prstGeom>
          <a:solidFill>
            <a:srgbClr val="10B981"/>
          </a:solidFill>
          <a:ln w="12700">
            <a:solidFill>
              <a:srgbClr val="10B981"/>
            </a:solidFill>
            <a:prstDash val="solid"/>
          </a:ln>
        </p:spPr>
      </p:sp>
      <p:sp>
        <p:nvSpPr>
          <p:cNvPr id="34" name="Text 32"/>
          <p:cNvSpPr/>
          <p:nvPr/>
        </p:nvSpPr>
        <p:spPr>
          <a:xfrm>
            <a:off x="4663440" y="3209544"/>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5" name="Text 33"/>
          <p:cNvSpPr/>
          <p:nvPr/>
        </p:nvSpPr>
        <p:spPr>
          <a:xfrm>
            <a:off x="5166360" y="3209544"/>
            <a:ext cx="37490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QR skan → rəqəmsal menyu</a:t>
            </a:r>
            <a:endParaRPr lang="en-US" sz="1300" dirty="0"/>
          </a:p>
        </p:txBody>
      </p:sp>
      <p:sp>
        <p:nvSpPr>
          <p:cNvPr id="36" name="Text 34"/>
          <p:cNvSpPr/>
          <p:nvPr/>
        </p:nvSpPr>
        <p:spPr>
          <a:xfrm>
            <a:off x="5166360" y="3483864"/>
            <a:ext cx="37490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gəlir, stolun QR-ını skan edir, allergiya və diet stilinə görə əvvəlcədən filtrələnmiş rəqəmsal menyu açılır.</a:t>
            </a:r>
            <a:endParaRPr lang="en-US" sz="1150" dirty="0"/>
          </a:p>
        </p:txBody>
      </p:sp>
      <p:sp>
        <p:nvSpPr>
          <p:cNvPr id="37" name="Shape 35"/>
          <p:cNvSpPr/>
          <p:nvPr/>
        </p:nvSpPr>
        <p:spPr>
          <a:xfrm>
            <a:off x="4663440" y="4105656"/>
            <a:ext cx="411480" cy="411480"/>
          </a:xfrm>
          <a:prstGeom prst="ellipse">
            <a:avLst/>
          </a:prstGeom>
          <a:solidFill>
            <a:srgbClr val="10B981"/>
          </a:solidFill>
          <a:ln w="12700">
            <a:solidFill>
              <a:srgbClr val="10B981"/>
            </a:solidFill>
            <a:prstDash val="solid"/>
          </a:ln>
        </p:spPr>
      </p:sp>
      <p:sp>
        <p:nvSpPr>
          <p:cNvPr id="38" name="Text 36"/>
          <p:cNvSpPr/>
          <p:nvPr/>
        </p:nvSpPr>
        <p:spPr>
          <a:xfrm>
            <a:off x="4663440" y="4105656"/>
            <a:ext cx="411480" cy="411480"/>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9" name="Text 37"/>
          <p:cNvSpPr/>
          <p:nvPr/>
        </p:nvSpPr>
        <p:spPr>
          <a:xfrm>
            <a:off x="5166360" y="4105656"/>
            <a:ext cx="3749040" cy="274320"/>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Tətbiq içi ödəniş</a:t>
            </a:r>
            <a:endParaRPr lang="en-US" sz="1300" dirty="0"/>
          </a:p>
        </p:txBody>
      </p:sp>
      <p:sp>
        <p:nvSpPr>
          <p:cNvPr id="40" name="Text 38"/>
          <p:cNvSpPr/>
          <p:nvPr/>
        </p:nvSpPr>
        <p:spPr>
          <a:xfrm>
            <a:off x="5166360" y="4379976"/>
            <a:ext cx="3749040" cy="548640"/>
          </a:xfrm>
          <a:prstGeom prst="rect">
            <a:avLst/>
          </a:prstGeom>
          <a:noFill/>
          <a:ln/>
        </p:spPr>
        <p:txBody>
          <a:bodyPr wrap="square" rtlCol="0" anchor="ctr"/>
          <a:lstStyle/>
          <a:p>
            <a:pPr marL="0" indent="0">
              <a:buNone/>
            </a:pPr>
            <a:r>
              <a:rPr lang="en-US" sz="1150" dirty="0">
                <a:solidFill>
                  <a:srgbClr val="64748B"/>
                </a:solidFill>
                <a:latin typeface="Calibri" pitchFamily="34" charset="0"/>
                <a:ea typeface="Calibri" pitchFamily="34" charset="-122"/>
                <a:cs typeface="Calibri" pitchFamily="34" charset="-120"/>
              </a:rPr>
              <a:t>Müştəri tətbiqdə ödəyir. Mətbəx KDS real vaxtda sifarişi alır. Ofisiantın saatı zəng çalır. Ofisiant yalnız yeməyi gətirir.</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BEB"/>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92400E"/>
          </a:solidFill>
          <a:ln w="12700">
            <a:solidFill>
              <a:srgbClr val="92400E"/>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BİZNES QAYDALARI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F59E0B"/>
                </a:solidFill>
                <a:latin typeface="Calibri" pitchFamily="34" charset="0"/>
                <a:ea typeface="Calibri" pitchFamily="34" charset="-122"/>
                <a:cs typeface="Calibri" pitchFamily="34" charset="-120"/>
              </a:rPr>
              <a:t>Rezervasiya və sifariş sistemini idarə edən beş ciddi təsdiq qaydası — danışılmaz məntiqlər</a:t>
            </a:r>
            <a:endParaRPr lang="en-US" sz="1200" dirty="0"/>
          </a:p>
        </p:txBody>
      </p:sp>
      <p:sp>
        <p:nvSpPr>
          <p:cNvPr id="5" name="Shape 3"/>
          <p:cNvSpPr/>
          <p:nvPr/>
        </p:nvSpPr>
        <p:spPr>
          <a:xfrm>
            <a:off x="182880" y="956204"/>
            <a:ext cx="4251960" cy="1535535"/>
          </a:xfrm>
          <a:prstGeom prst="rect">
            <a:avLst/>
          </a:prstGeom>
          <a:solidFill>
            <a:srgbClr val="FFFFFF"/>
          </a:solidFill>
          <a:ln w="12700">
            <a:solidFill>
              <a:srgbClr val="FCD34D"/>
            </a:solidFill>
            <a:prstDash val="solid"/>
          </a:ln>
          <a:effectLst>
            <a:outerShdw blurRad="101600" dist="38100" dir="8100000" algn="bl" rotWithShape="0">
              <a:srgbClr val="000000">
                <a:alpha val="10000"/>
              </a:srgbClr>
            </a:outerShdw>
          </a:effectLst>
        </p:spPr>
      </p:sp>
      <p:sp>
        <p:nvSpPr>
          <p:cNvPr id="6" name="Text 4"/>
          <p:cNvSpPr/>
          <p:nvPr/>
        </p:nvSpPr>
        <p:spPr>
          <a:xfrm>
            <a:off x="320040" y="982473"/>
            <a:ext cx="3977640" cy="347472"/>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Vaxt Yuvası Bloklama Qaydası</a:t>
            </a:r>
            <a:endParaRPr lang="en-US" sz="1300" dirty="0"/>
          </a:p>
        </p:txBody>
      </p:sp>
      <p:sp>
        <p:nvSpPr>
          <p:cNvPr id="7" name="Text 5"/>
          <p:cNvSpPr/>
          <p:nvPr/>
        </p:nvSpPr>
        <p:spPr>
          <a:xfrm>
            <a:off x="327297" y="1297434"/>
            <a:ext cx="3977640" cy="1078992"/>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Müştəri müəyyən stol və vaxt üçün rezervasiyanı tamamladıqda, həmin stol seçilmiş başlama vaxtı + konfiqurasiya edilə bilən bufer müddəti (standart: 2 saat) üçün 'Kilidli' kimi işarələnir. Bu pəncərə ərzində heç bir digər müştəri eyni stolu üst-üstə düşən vaxt yuvası üçün seçə bilməz — verilənlər bazası səviyyəsində tətbiq edilir.</a:t>
            </a:r>
            <a:endParaRPr lang="en-US" sz="1150" dirty="0"/>
          </a:p>
        </p:txBody>
      </p:sp>
      <p:sp>
        <p:nvSpPr>
          <p:cNvPr id="8" name="Shape 6"/>
          <p:cNvSpPr/>
          <p:nvPr/>
        </p:nvSpPr>
        <p:spPr>
          <a:xfrm>
            <a:off x="4625703" y="956204"/>
            <a:ext cx="4251960" cy="1535536"/>
          </a:xfrm>
          <a:prstGeom prst="rect">
            <a:avLst/>
          </a:prstGeom>
          <a:solidFill>
            <a:srgbClr val="FFFFFF"/>
          </a:solidFill>
          <a:ln w="12700">
            <a:solidFill>
              <a:srgbClr val="FCD34D"/>
            </a:solidFill>
            <a:prstDash val="solid"/>
          </a:ln>
          <a:effectLst>
            <a:outerShdw blurRad="101600" dist="38100" dir="8100000" algn="bl" rotWithShape="0">
              <a:srgbClr val="000000">
                <a:alpha val="10000"/>
              </a:srgbClr>
            </a:outerShdw>
          </a:effectLst>
        </p:spPr>
      </p:sp>
      <p:sp>
        <p:nvSpPr>
          <p:cNvPr id="9" name="Text 7"/>
          <p:cNvSpPr/>
          <p:nvPr/>
        </p:nvSpPr>
        <p:spPr>
          <a:xfrm>
            <a:off x="4800600" y="973836"/>
            <a:ext cx="3977640" cy="347472"/>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Depozit / Ön Ödəniş Qaydası</a:t>
            </a:r>
            <a:endParaRPr lang="en-US" sz="1300" dirty="0"/>
          </a:p>
        </p:txBody>
      </p:sp>
      <p:sp>
        <p:nvSpPr>
          <p:cNvPr id="10" name="Text 8"/>
          <p:cNvSpPr/>
          <p:nvPr/>
        </p:nvSpPr>
        <p:spPr>
          <a:xfrm>
            <a:off x="4793343" y="1275663"/>
            <a:ext cx="3977640" cy="1078992"/>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Gəlməyən müştərilərin maliyyə riskini azaltmaq üçün sistem rezervasiya təsdiqləndikdə müştərinin kartında tutma (deyil ödəniş) həyata keçirir. Tutulan məbləğ konfiqurasiya edilə bilən sabit depozit haqqı və ya tam əvvəlcədən sifarişin cəmidir. Müştəri gəlmirsə tam ödənişə çevrilir.</a:t>
            </a:r>
            <a:endParaRPr lang="en-US" sz="1150" dirty="0"/>
          </a:p>
        </p:txBody>
      </p:sp>
      <p:sp>
        <p:nvSpPr>
          <p:cNvPr id="11" name="Shape 9"/>
          <p:cNvSpPr/>
          <p:nvPr/>
        </p:nvSpPr>
        <p:spPr>
          <a:xfrm>
            <a:off x="182880" y="2571750"/>
            <a:ext cx="4251960" cy="1515618"/>
          </a:xfrm>
          <a:prstGeom prst="rect">
            <a:avLst/>
          </a:prstGeom>
          <a:solidFill>
            <a:srgbClr val="FFFFFF"/>
          </a:solidFill>
          <a:ln w="12700">
            <a:solidFill>
              <a:srgbClr val="FCD34D"/>
            </a:solidFill>
            <a:prstDash val="solid"/>
          </a:ln>
          <a:effectLst>
            <a:outerShdw blurRad="101600" dist="38100" dir="8100000" algn="bl" rotWithShape="0">
              <a:srgbClr val="000000">
                <a:alpha val="10000"/>
              </a:srgbClr>
            </a:outerShdw>
          </a:effectLst>
        </p:spPr>
      </p:sp>
      <p:sp>
        <p:nvSpPr>
          <p:cNvPr id="12" name="Text 10"/>
          <p:cNvSpPr/>
          <p:nvPr/>
        </p:nvSpPr>
        <p:spPr>
          <a:xfrm>
            <a:off x="320040" y="2724912"/>
            <a:ext cx="3977640" cy="347472"/>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İmtina &amp; Geri Qaytarma Siyasəti</a:t>
            </a:r>
            <a:endParaRPr lang="en-US" sz="1300" dirty="0"/>
          </a:p>
        </p:txBody>
      </p:sp>
      <p:sp>
        <p:nvSpPr>
          <p:cNvPr id="13" name="Text 11"/>
          <p:cNvSpPr/>
          <p:nvPr/>
        </p:nvSpPr>
        <p:spPr>
          <a:xfrm>
            <a:off x="320040" y="3090672"/>
            <a:ext cx="3977640" cy="1078992"/>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Rezervasiya başlama vaxtından 2 saatdan çox əvvəl imtina edən müştəri depozitinin 100%-ni geri alır — 3–5 iş günü ərzində kartına avtomatik emal edilir. Son 2 saatlıq pəncərədə imtina edən və ya sadəcə gəlməyən müştəri depoziti itirir.</a:t>
            </a:r>
            <a:endParaRPr lang="en-US" sz="1150" dirty="0"/>
          </a:p>
        </p:txBody>
      </p:sp>
      <p:sp>
        <p:nvSpPr>
          <p:cNvPr id="14" name="Shape 12"/>
          <p:cNvSpPr/>
          <p:nvPr/>
        </p:nvSpPr>
        <p:spPr>
          <a:xfrm>
            <a:off x="4625703" y="2571750"/>
            <a:ext cx="4289697" cy="1515618"/>
          </a:xfrm>
          <a:prstGeom prst="rect">
            <a:avLst/>
          </a:prstGeom>
          <a:solidFill>
            <a:srgbClr val="FFFFFF"/>
          </a:solidFill>
          <a:ln w="12700">
            <a:solidFill>
              <a:srgbClr val="FCD34D"/>
            </a:solidFill>
            <a:prstDash val="solid"/>
          </a:ln>
          <a:effectLst>
            <a:outerShdw blurRad="101600" dist="38100" dir="8100000" algn="bl" rotWithShape="0">
              <a:srgbClr val="000000">
                <a:alpha val="10000"/>
              </a:srgbClr>
            </a:outerShdw>
          </a:effectLst>
        </p:spPr>
      </p:sp>
      <p:sp>
        <p:nvSpPr>
          <p:cNvPr id="15" name="Text 13"/>
          <p:cNvSpPr/>
          <p:nvPr/>
        </p:nvSpPr>
        <p:spPr>
          <a:xfrm>
            <a:off x="4800600" y="2724912"/>
            <a:ext cx="3977640" cy="347472"/>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QR Stol Müəyyənləşdirmə Qaydası</a:t>
            </a:r>
            <a:endParaRPr lang="en-US" sz="1300" dirty="0"/>
          </a:p>
        </p:txBody>
      </p:sp>
      <p:sp>
        <p:nvSpPr>
          <p:cNvPr id="16" name="Text 14"/>
          <p:cNvSpPr/>
          <p:nvPr/>
        </p:nvSpPr>
        <p:spPr>
          <a:xfrm>
            <a:off x="4800600" y="3090672"/>
            <a:ext cx="3977640" cy="1078992"/>
          </a:xfrm>
          <a:prstGeom prst="rect">
            <a:avLst/>
          </a:prstGeom>
          <a:noFill/>
          <a:ln/>
        </p:spPr>
        <p:txBody>
          <a:bodyPr wrap="square" rtlCol="0" anchor="t"/>
          <a:lstStyle/>
          <a:p>
            <a:pPr marL="0" indent="0">
              <a:buNone/>
            </a:pPr>
            <a:r>
              <a:rPr lang="en-US" sz="1150" dirty="0">
                <a:solidFill>
                  <a:srgbClr val="64748B"/>
                </a:solidFill>
                <a:latin typeface="Calibri" pitchFamily="34" charset="0"/>
                <a:ea typeface="Calibri" pitchFamily="34" charset="-122"/>
                <a:cs typeface="Calibri" pitchFamily="34" charset="-120"/>
              </a:rPr>
              <a:t>Restoran daxili sifarişlər üçün hər sifariş təsdiqlənmiş stol ID-sinə bağlanmalıdır. Müştəri stolda yapışdırılan unikal QR-ı skan etmədən öz səbətini təsdiqləyə bilməz. QR skan stolun unikal ID-sini backend-ə ötürür.</a:t>
            </a:r>
            <a:endParaRPr lang="en-US" sz="1150" dirty="0"/>
          </a:p>
        </p:txBody>
      </p:sp>
      <p:sp>
        <p:nvSpPr>
          <p:cNvPr id="17" name="Shape 15"/>
          <p:cNvSpPr/>
          <p:nvPr/>
        </p:nvSpPr>
        <p:spPr>
          <a:xfrm>
            <a:off x="182880" y="4174893"/>
            <a:ext cx="8778240" cy="868680"/>
          </a:xfrm>
          <a:prstGeom prst="rect">
            <a:avLst/>
          </a:prstGeom>
          <a:solidFill>
            <a:srgbClr val="FFFFFF"/>
          </a:solidFill>
          <a:ln w="12700">
            <a:solidFill>
              <a:srgbClr val="FCD34D"/>
            </a:solidFill>
            <a:prstDash val="solid"/>
          </a:ln>
          <a:effectLst>
            <a:outerShdw blurRad="101600" dist="38100" dir="8100000" algn="bl" rotWithShape="0">
              <a:srgbClr val="000000">
                <a:alpha val="10000"/>
              </a:srgbClr>
            </a:outerShdw>
          </a:effectLst>
        </p:spPr>
      </p:sp>
      <p:sp>
        <p:nvSpPr>
          <p:cNvPr id="18" name="Text 16"/>
          <p:cNvSpPr/>
          <p:nvPr/>
        </p:nvSpPr>
        <p:spPr>
          <a:xfrm>
            <a:off x="320040" y="4248043"/>
            <a:ext cx="8503920" cy="347472"/>
          </a:xfrm>
          <a:prstGeom prst="rect">
            <a:avLst/>
          </a:prstGeom>
          <a:noFill/>
          <a:ln/>
        </p:spPr>
        <p:txBody>
          <a:bodyPr wrap="square" rtlCol="0" anchor="ctr"/>
          <a:lstStyle/>
          <a:p>
            <a:pPr marL="0" indent="0">
              <a:buNone/>
            </a:pPr>
            <a:r>
              <a:rPr lang="en-US" sz="1300" b="1" dirty="0">
                <a:solidFill>
                  <a:srgbClr val="92400E"/>
                </a:solidFill>
                <a:latin typeface="Calibri" pitchFamily="34" charset="0"/>
                <a:ea typeface="Calibri" pitchFamily="34" charset="-122"/>
                <a:cs typeface="Calibri" pitchFamily="34" charset="-120"/>
              </a:rPr>
              <a:t>📦  Dinamik Stok Nəzarəti Qaydası</a:t>
            </a:r>
            <a:endParaRPr lang="en-US" sz="1300" dirty="0"/>
          </a:p>
        </p:txBody>
      </p:sp>
      <p:sp>
        <p:nvSpPr>
          <p:cNvPr id="19" name="Text 17"/>
          <p:cNvSpPr/>
          <p:nvPr/>
        </p:nvSpPr>
        <p:spPr>
          <a:xfrm>
            <a:off x="320040" y="4533978"/>
            <a:ext cx="8503920" cy="50292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Restoran meneceri admin panelindəki hər hansı menyu maddəsini 'Tükəndi' kimi işarələdikdə, maddənin mövcudluq bayrağı saniyələr ərzində yenilənir. Frontend dəyişikliyi real vaxtda əks etdirir. Heç bir müştəri tükənmiş maddəni səbətinə əlavə edə bilməz.</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DARBOĞAZLAR VƏ TEXNİKİ HƏLLƏRİ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Müəyyən etdiyimiz üç kritik mühəndislik riski — və dizayn etdiyimiz arxitektura səviyyəli həllər</a:t>
            </a:r>
            <a:endParaRPr lang="en-US" sz="1200" dirty="0"/>
          </a:p>
        </p:txBody>
      </p:sp>
      <p:sp>
        <p:nvSpPr>
          <p:cNvPr id="5" name="Shape 3"/>
          <p:cNvSpPr/>
          <p:nvPr/>
        </p:nvSpPr>
        <p:spPr>
          <a:xfrm>
            <a:off x="182880" y="960120"/>
            <a:ext cx="87782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6" name="Shape 4"/>
          <p:cNvSpPr/>
          <p:nvPr/>
        </p:nvSpPr>
        <p:spPr>
          <a:xfrm>
            <a:off x="264040" y="1234440"/>
            <a:ext cx="640080" cy="640080"/>
          </a:xfrm>
          <a:prstGeom prst="ellipse">
            <a:avLst/>
          </a:prstGeom>
          <a:solidFill>
            <a:srgbClr val="0D9488"/>
          </a:solidFill>
          <a:ln w="12700">
            <a:solidFill>
              <a:srgbClr val="0D9488"/>
            </a:solidFill>
            <a:prstDash val="solid"/>
          </a:ln>
        </p:spPr>
      </p:sp>
      <p:sp>
        <p:nvSpPr>
          <p:cNvPr id="7" name="Text 5"/>
          <p:cNvSpPr/>
          <p:nvPr/>
        </p:nvSpPr>
        <p:spPr>
          <a:xfrm>
            <a:off x="256952" y="123444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8" name="Text 6"/>
          <p:cNvSpPr/>
          <p:nvPr/>
        </p:nvSpPr>
        <p:spPr>
          <a:xfrm>
            <a:off x="1005840" y="1033272"/>
            <a:ext cx="7863840" cy="347472"/>
          </a:xfrm>
          <a:prstGeom prst="rect">
            <a:avLst/>
          </a:prstGeom>
          <a:noFill/>
          <a:ln/>
        </p:spPr>
        <p:txBody>
          <a:bodyPr wrap="square" rtlCol="0" anchor="ctr"/>
          <a:lstStyle/>
          <a:p>
            <a:pPr marL="0" indent="0">
              <a:buNone/>
            </a:pPr>
            <a:r>
              <a:rPr lang="en-US" sz="1300" b="1" dirty="0" err="1">
                <a:solidFill>
                  <a:srgbClr val="0F172A"/>
                </a:solidFill>
                <a:latin typeface="Calibri" pitchFamily="34" charset="0"/>
                <a:ea typeface="Calibri" pitchFamily="34" charset="-122"/>
                <a:cs typeface="Calibri" pitchFamily="34" charset="-120"/>
              </a:rPr>
              <a:t>Ödəniş</a:t>
            </a:r>
            <a:r>
              <a:rPr lang="en-US" sz="1300" b="1" dirty="0">
                <a:solidFill>
                  <a:srgbClr val="0F172A"/>
                </a:solidFill>
                <a:latin typeface="Calibri" pitchFamily="34" charset="0"/>
                <a:ea typeface="Calibri" pitchFamily="34" charset="-122"/>
                <a:cs typeface="Calibri" pitchFamily="34" charset="-120"/>
              </a:rPr>
              <a:t> &amp; Sifariş Sinxronizasiyası — Yarış Vəziyyəti</a:t>
            </a:r>
            <a:endParaRPr lang="en-US" sz="1300" dirty="0"/>
          </a:p>
        </p:txBody>
      </p:sp>
      <p:sp>
        <p:nvSpPr>
          <p:cNvPr id="9" name="Text 7"/>
          <p:cNvSpPr/>
          <p:nvPr/>
        </p:nvSpPr>
        <p:spPr>
          <a:xfrm>
            <a:off x="1005840" y="1342328"/>
            <a:ext cx="3749040" cy="74980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Problem: Müştəri Ödə düyməsinə basdı. Bank kartından pul uğurla çıxardı. Tam həmin anda restoranın internet bağlantısı kəsildi. Mətbəx sistemi heç vaxt sifariş bildirişi almadı. Nəticə: müştəri ödədi amma yemək hazırlanmadı.</a:t>
            </a:r>
            <a:endParaRPr lang="en-US" sz="1100" dirty="0"/>
          </a:p>
        </p:txBody>
      </p:sp>
      <p:sp>
        <p:nvSpPr>
          <p:cNvPr id="10" name="Shape 8"/>
          <p:cNvSpPr/>
          <p:nvPr/>
        </p:nvSpPr>
        <p:spPr>
          <a:xfrm>
            <a:off x="4846320" y="1097280"/>
            <a:ext cx="0" cy="1005840"/>
          </a:xfrm>
          <a:prstGeom prst="line">
            <a:avLst/>
          </a:prstGeom>
          <a:noFill/>
          <a:ln w="12700">
            <a:solidFill>
              <a:srgbClr val="E2E8F0"/>
            </a:solidFill>
            <a:prstDash val="solid"/>
          </a:ln>
        </p:spPr>
      </p:sp>
      <p:sp>
        <p:nvSpPr>
          <p:cNvPr id="11" name="Text 9"/>
          <p:cNvSpPr/>
          <p:nvPr/>
        </p:nvSpPr>
        <p:spPr>
          <a:xfrm>
            <a:off x="4937760" y="1129676"/>
            <a:ext cx="3840480" cy="983723"/>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Həll: İki Mərhələli Ödəniş (Auth/Capture) + Webhook Arxitekturası. Ödəniş şlüzü müştərinin kartında tutma (Auth) həyata keçirir. Faktiki ödəniş (Capture) yalnız restoranın KDS sistemi webhook vasitəsilə '200 OK' cavabı göndərəndən sonra baş verir. Hər hansı xəta olsa tutma avtomatik ləğv edilir.</a:t>
            </a:r>
            <a:endParaRPr lang="en-US" sz="1100" dirty="0"/>
          </a:p>
        </p:txBody>
      </p:sp>
      <p:sp>
        <p:nvSpPr>
          <p:cNvPr id="12" name="Shape 10"/>
          <p:cNvSpPr/>
          <p:nvPr/>
        </p:nvSpPr>
        <p:spPr>
          <a:xfrm>
            <a:off x="182880" y="2331720"/>
            <a:ext cx="87782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13" name="Shape 11"/>
          <p:cNvSpPr/>
          <p:nvPr/>
        </p:nvSpPr>
        <p:spPr>
          <a:xfrm>
            <a:off x="256952" y="2606040"/>
            <a:ext cx="640080" cy="640080"/>
          </a:xfrm>
          <a:prstGeom prst="ellipse">
            <a:avLst/>
          </a:prstGeom>
          <a:solidFill>
            <a:srgbClr val="0D9488"/>
          </a:solidFill>
          <a:ln w="12700">
            <a:solidFill>
              <a:srgbClr val="0D9488"/>
            </a:solidFill>
            <a:prstDash val="solid"/>
          </a:ln>
        </p:spPr>
      </p:sp>
      <p:sp>
        <p:nvSpPr>
          <p:cNvPr id="14" name="Text 12"/>
          <p:cNvSpPr/>
          <p:nvPr/>
        </p:nvSpPr>
        <p:spPr>
          <a:xfrm>
            <a:off x="256952" y="260604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Text 13"/>
          <p:cNvSpPr/>
          <p:nvPr/>
        </p:nvSpPr>
        <p:spPr>
          <a:xfrm>
            <a:off x="1005840" y="2404872"/>
            <a:ext cx="78638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Pik Saat Eyni Vaxtda Stol Seçimi</a:t>
            </a:r>
            <a:endParaRPr lang="en-US" sz="1300" dirty="0"/>
          </a:p>
        </p:txBody>
      </p:sp>
      <p:sp>
        <p:nvSpPr>
          <p:cNvPr id="16" name="Text 14"/>
          <p:cNvSpPr/>
          <p:nvPr/>
        </p:nvSpPr>
        <p:spPr>
          <a:xfrm>
            <a:off x="1005840" y="2706840"/>
            <a:ext cx="3749040" cy="88675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Problem: Cüməaxşamı axşamı iki müştəri eyni vaxtda tətbiqi açıb saat 20:00 üçün 'Stol 12'-yə kliklədi. Hər ikisi mövcud görür. İkisi də ödəniş ekranına keçir. Qorunma olmadan hər ikisi təsdiqlənəcək — çilov ikili rezervasiya hadisəsi.</a:t>
            </a:r>
            <a:endParaRPr lang="en-US" sz="1100" dirty="0"/>
          </a:p>
        </p:txBody>
      </p:sp>
      <p:sp>
        <p:nvSpPr>
          <p:cNvPr id="17" name="Shape 15"/>
          <p:cNvSpPr/>
          <p:nvPr/>
        </p:nvSpPr>
        <p:spPr>
          <a:xfrm>
            <a:off x="4846320" y="2468880"/>
            <a:ext cx="0" cy="1005840"/>
          </a:xfrm>
          <a:prstGeom prst="line">
            <a:avLst/>
          </a:prstGeom>
          <a:noFill/>
          <a:ln w="12700">
            <a:solidFill>
              <a:srgbClr val="E2E8F0"/>
            </a:solidFill>
            <a:prstDash val="solid"/>
          </a:ln>
        </p:spPr>
      </p:sp>
      <p:sp>
        <p:nvSpPr>
          <p:cNvPr id="18" name="Text 16"/>
          <p:cNvSpPr/>
          <p:nvPr/>
        </p:nvSpPr>
        <p:spPr>
          <a:xfrm>
            <a:off x="4937760" y="2536719"/>
            <a:ext cx="3840480" cy="931559"/>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Həll: Pessimistik Verilənlər Bazası Kilidi. Müştəri interaktiv xəritədə stolun üzərinə kliklədikdə sistem dərhal həmin stol yazısında 5 dəqiqəlik müvəqqəti 'GÖZLƏNTİLİ' kilid yazır. Kilid müddəti dolsa müştəri ödənişi tərk etsə stol avtomatik yenidən mövcud olur.</a:t>
            </a:r>
            <a:endParaRPr lang="en-US" sz="1100" dirty="0"/>
          </a:p>
        </p:txBody>
      </p:sp>
      <p:sp>
        <p:nvSpPr>
          <p:cNvPr id="19" name="Shape 17"/>
          <p:cNvSpPr/>
          <p:nvPr/>
        </p:nvSpPr>
        <p:spPr>
          <a:xfrm>
            <a:off x="182880" y="3703320"/>
            <a:ext cx="8778240" cy="1298448"/>
          </a:xfrm>
          <a:prstGeom prst="rect">
            <a:avLst/>
          </a:prstGeom>
          <a:solidFill>
            <a:srgbClr val="FFFFFF"/>
          </a:solidFill>
          <a:ln w="12700">
            <a:solidFill>
              <a:srgbClr val="E2E8F0"/>
            </a:solidFill>
            <a:prstDash val="solid"/>
          </a:ln>
          <a:effectLst>
            <a:outerShdw blurRad="101600" dist="38100" dir="8100000" algn="bl" rotWithShape="0">
              <a:srgbClr val="000000">
                <a:alpha val="10000"/>
              </a:srgbClr>
            </a:outerShdw>
          </a:effectLst>
        </p:spPr>
      </p:sp>
      <p:sp>
        <p:nvSpPr>
          <p:cNvPr id="20" name="Shape 18"/>
          <p:cNvSpPr/>
          <p:nvPr/>
        </p:nvSpPr>
        <p:spPr>
          <a:xfrm>
            <a:off x="256952" y="3977640"/>
            <a:ext cx="640080" cy="640080"/>
          </a:xfrm>
          <a:prstGeom prst="ellipse">
            <a:avLst/>
          </a:prstGeom>
          <a:solidFill>
            <a:srgbClr val="0D9488"/>
          </a:solidFill>
          <a:ln w="12700">
            <a:solidFill>
              <a:srgbClr val="0D9488"/>
            </a:solidFill>
            <a:prstDash val="solid"/>
          </a:ln>
        </p:spPr>
      </p:sp>
      <p:sp>
        <p:nvSpPr>
          <p:cNvPr id="21" name="Text 19"/>
          <p:cNvSpPr/>
          <p:nvPr/>
        </p:nvSpPr>
        <p:spPr>
          <a:xfrm>
            <a:off x="256952" y="3977640"/>
            <a:ext cx="64008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Text 20"/>
          <p:cNvSpPr/>
          <p:nvPr/>
        </p:nvSpPr>
        <p:spPr>
          <a:xfrm>
            <a:off x="1005840" y="3776472"/>
            <a:ext cx="7863840" cy="347472"/>
          </a:xfrm>
          <a:prstGeom prst="rect">
            <a:avLst/>
          </a:prstGeom>
          <a:noFill/>
          <a:ln/>
        </p:spPr>
        <p:txBody>
          <a:bodyPr wrap="square" rtlCol="0" anchor="ctr"/>
          <a:lstStyle/>
          <a:p>
            <a:pPr marL="0" indent="0">
              <a:buNone/>
            </a:pPr>
            <a:r>
              <a:rPr lang="en-US" sz="1300" b="1" dirty="0">
                <a:solidFill>
                  <a:srgbClr val="0F172A"/>
                </a:solidFill>
                <a:latin typeface="Calibri" pitchFamily="34" charset="0"/>
                <a:ea typeface="Calibri" pitchFamily="34" charset="-122"/>
                <a:cs typeface="Calibri" pitchFamily="34" charset="-120"/>
              </a:rPr>
              <a:t>İnternet Kəsilməsi — Restoran Bağlantı Uğursuzluğu</a:t>
            </a:r>
            <a:endParaRPr lang="en-US" sz="1300" dirty="0"/>
          </a:p>
        </p:txBody>
      </p:sp>
      <p:sp>
        <p:nvSpPr>
          <p:cNvPr id="23" name="Text 21"/>
          <p:cNvSpPr/>
          <p:nvPr/>
        </p:nvSpPr>
        <p:spPr>
          <a:xfrm>
            <a:off x="1005840" y="4078440"/>
            <a:ext cx="3749040" cy="749808"/>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Problem: Restoranın internet provayderi şam xidməti zamanı kəsilmə yaşadı. Bütün mətbəx planşetləri bulud bağlantısını itirdi. QR sifarişlər mətbəxə çatmağı dayandırdı. Rəqəmsal sistem günün ən yoğun saatında işini dayandırdı.</a:t>
            </a:r>
            <a:endParaRPr lang="en-US" sz="1100" dirty="0"/>
          </a:p>
        </p:txBody>
      </p:sp>
      <p:sp>
        <p:nvSpPr>
          <p:cNvPr id="24" name="Shape 22"/>
          <p:cNvSpPr/>
          <p:nvPr/>
        </p:nvSpPr>
        <p:spPr>
          <a:xfrm>
            <a:off x="4846320" y="3840480"/>
            <a:ext cx="0" cy="1005840"/>
          </a:xfrm>
          <a:prstGeom prst="line">
            <a:avLst/>
          </a:prstGeom>
          <a:noFill/>
          <a:ln w="12700">
            <a:solidFill>
              <a:srgbClr val="E2E8F0"/>
            </a:solidFill>
            <a:prstDash val="solid"/>
          </a:ln>
        </p:spPr>
      </p:sp>
      <p:sp>
        <p:nvSpPr>
          <p:cNvPr id="25" name="Text 23"/>
          <p:cNvSpPr/>
          <p:nvPr/>
        </p:nvSpPr>
        <p:spPr>
          <a:xfrm>
            <a:off x="4937760" y="3865798"/>
            <a:ext cx="3840480" cy="1005839"/>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  Həll: Hibrid Bulud / Yerli Kənar Qovşaq Arxitekturası. Restoranın LAN şəbəkəsindəki aşağı qiymətli yerli server (məs. Raspberry Pi) aktiv menyu və sifariş növbəsinin yerli surətini saxlayır. İnternet bərpa olunanda yerli qeydlər avtomatik buludla sinxronlaşır — məlumat itkisi olmur.</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MARAQLILAR ANALİZİ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FoodSense ilə əlaqəli hər qrup — onların rolu, töhfəsi və qazandıqları</a:t>
            </a:r>
            <a:endParaRPr lang="en-US" sz="1200" dirty="0"/>
          </a:p>
        </p:txBody>
      </p:sp>
      <p:sp>
        <p:nvSpPr>
          <p:cNvPr id="5" name="Shape 3"/>
          <p:cNvSpPr/>
          <p:nvPr/>
        </p:nvSpPr>
        <p:spPr>
          <a:xfrm>
            <a:off x="182880" y="960120"/>
            <a:ext cx="4251960" cy="192024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4251960" cy="64008"/>
          </a:xfrm>
          <a:prstGeom prst="rect">
            <a:avLst/>
          </a:prstGeom>
          <a:solidFill>
            <a:srgbClr val="0D9488"/>
          </a:solidFill>
          <a:ln w="12700">
            <a:solidFill>
              <a:srgbClr val="0D9488"/>
            </a:solidFill>
            <a:prstDash val="solid"/>
          </a:ln>
        </p:spPr>
      </p:sp>
      <p:sp>
        <p:nvSpPr>
          <p:cNvPr id="7" name="Text 5"/>
          <p:cNvSpPr/>
          <p:nvPr/>
        </p:nvSpPr>
        <p:spPr>
          <a:xfrm>
            <a:off x="274320" y="105156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8" name="Text 6"/>
          <p:cNvSpPr/>
          <p:nvPr/>
        </p:nvSpPr>
        <p:spPr>
          <a:xfrm>
            <a:off x="868680" y="1051560"/>
            <a:ext cx="3383280" cy="29260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Müştəri</a:t>
            </a:r>
            <a:endParaRPr lang="en-US" sz="1400" dirty="0"/>
          </a:p>
        </p:txBody>
      </p:sp>
      <p:sp>
        <p:nvSpPr>
          <p:cNvPr id="9" name="Text 7"/>
          <p:cNvSpPr/>
          <p:nvPr/>
        </p:nvSpPr>
        <p:spPr>
          <a:xfrm>
            <a:off x="868680" y="1344168"/>
            <a:ext cx="3383280" cy="219456"/>
          </a:xfrm>
          <a:prstGeom prst="rect">
            <a:avLst/>
          </a:prstGeom>
          <a:noFill/>
          <a:ln/>
        </p:spPr>
        <p:txBody>
          <a:bodyPr wrap="square" rtlCol="0" anchor="ctr"/>
          <a:lstStyle/>
          <a:p>
            <a:pPr marL="0" indent="0">
              <a:buNone/>
            </a:pPr>
            <a:r>
              <a:rPr lang="en-US" sz="1100" i="1" dirty="0">
                <a:solidFill>
                  <a:srgbClr val="0D9488"/>
                </a:solidFill>
                <a:latin typeface="Calibri" pitchFamily="34" charset="0"/>
                <a:ea typeface="Calibri" pitchFamily="34" charset="-122"/>
                <a:cs typeface="Calibri" pitchFamily="34" charset="-120"/>
              </a:rPr>
              <a:t>Son İstifadəçi</a:t>
            </a:r>
            <a:endParaRPr lang="en-US" sz="1100" dirty="0"/>
          </a:p>
        </p:txBody>
      </p:sp>
      <p:sp>
        <p:nvSpPr>
          <p:cNvPr id="10" name="Text 8"/>
          <p:cNvSpPr/>
          <p:nvPr/>
        </p:nvSpPr>
        <p:spPr>
          <a:xfrm>
            <a:off x="320040" y="1618488"/>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Tam fərdiləşdirilmiş, allergiyadan təhlükəsiz, havaya uyğun menyu — heç bir əlavə səy olmadan.</a:t>
            </a:r>
            <a:endParaRPr lang="en-US" sz="1150" dirty="0"/>
          </a:p>
        </p:txBody>
      </p:sp>
      <p:sp>
        <p:nvSpPr>
          <p:cNvPr id="11" name="Text 9"/>
          <p:cNvSpPr/>
          <p:nvPr/>
        </p:nvSpPr>
        <p:spPr>
          <a:xfrm>
            <a:off x="320040" y="2002536"/>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Loyallıq möhür kartı tətbiqdə — itirmək üçün fiziki kart yoxdur, hər uyğun sifarişdə avtomatik yığılır.</a:t>
            </a:r>
            <a:endParaRPr lang="en-US" sz="1150" dirty="0"/>
          </a:p>
        </p:txBody>
      </p:sp>
      <p:sp>
        <p:nvSpPr>
          <p:cNvPr id="12" name="Text 10"/>
          <p:cNvSpPr/>
          <p:nvPr/>
        </p:nvSpPr>
        <p:spPr>
          <a:xfrm>
            <a:off x="320040" y="2386584"/>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Ulduz reytinqləri gələcək tövsiyələri birbaşa formalaşdırır.</a:t>
            </a:r>
            <a:endParaRPr lang="en-US" sz="1150" dirty="0"/>
          </a:p>
        </p:txBody>
      </p:sp>
      <p:sp>
        <p:nvSpPr>
          <p:cNvPr id="13" name="Shape 11"/>
          <p:cNvSpPr/>
          <p:nvPr/>
        </p:nvSpPr>
        <p:spPr>
          <a:xfrm>
            <a:off x="4663440" y="960120"/>
            <a:ext cx="4251960" cy="1920240"/>
          </a:xfrm>
          <a:prstGeom prst="rect">
            <a:avLst/>
          </a:prstGeom>
          <a:solidFill>
            <a:srgbClr val="FFFFFF"/>
          </a:solidFill>
          <a:ln w="12700">
            <a:solidFill>
              <a:srgbClr val="8B5CF6"/>
            </a:solidFill>
            <a:prstDash val="solid"/>
          </a:ln>
          <a:effectLst>
            <a:outerShdw blurRad="101600" dist="38100" dir="8100000" algn="bl" rotWithShape="0">
              <a:srgbClr val="000000">
                <a:alpha val="10000"/>
              </a:srgbClr>
            </a:outerShdw>
          </a:effectLst>
        </p:spPr>
      </p:sp>
      <p:sp>
        <p:nvSpPr>
          <p:cNvPr id="14" name="Shape 12"/>
          <p:cNvSpPr/>
          <p:nvPr/>
        </p:nvSpPr>
        <p:spPr>
          <a:xfrm>
            <a:off x="4663440" y="960120"/>
            <a:ext cx="4251960" cy="64008"/>
          </a:xfrm>
          <a:prstGeom prst="rect">
            <a:avLst/>
          </a:prstGeom>
          <a:solidFill>
            <a:srgbClr val="8B5CF6"/>
          </a:solidFill>
          <a:ln w="12700">
            <a:solidFill>
              <a:srgbClr val="8B5CF6"/>
            </a:solidFill>
            <a:prstDash val="solid"/>
          </a:ln>
        </p:spPr>
      </p:sp>
      <p:sp>
        <p:nvSpPr>
          <p:cNvPr id="15" name="Text 13"/>
          <p:cNvSpPr/>
          <p:nvPr/>
        </p:nvSpPr>
        <p:spPr>
          <a:xfrm>
            <a:off x="4754880" y="105156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16" name="Text 14"/>
          <p:cNvSpPr/>
          <p:nvPr/>
        </p:nvSpPr>
        <p:spPr>
          <a:xfrm>
            <a:off x="5349240" y="1051560"/>
            <a:ext cx="3383280" cy="29260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Restoran Sahibi</a:t>
            </a:r>
            <a:endParaRPr lang="en-US" sz="1400" dirty="0"/>
          </a:p>
        </p:txBody>
      </p:sp>
      <p:sp>
        <p:nvSpPr>
          <p:cNvPr id="17" name="Text 15"/>
          <p:cNvSpPr/>
          <p:nvPr/>
        </p:nvSpPr>
        <p:spPr>
          <a:xfrm>
            <a:off x="5349240" y="1344168"/>
            <a:ext cx="3383280" cy="219456"/>
          </a:xfrm>
          <a:prstGeom prst="rect">
            <a:avLst/>
          </a:prstGeom>
          <a:noFill/>
          <a:ln/>
        </p:spPr>
        <p:txBody>
          <a:bodyPr wrap="square" rtlCol="0" anchor="ctr"/>
          <a:lstStyle/>
          <a:p>
            <a:pPr marL="0" indent="0">
              <a:buNone/>
            </a:pPr>
            <a:r>
              <a:rPr lang="en-US" sz="1100" i="1" dirty="0">
                <a:solidFill>
                  <a:srgbClr val="8B5CF6"/>
                </a:solidFill>
                <a:latin typeface="Calibri" pitchFamily="34" charset="0"/>
                <a:ea typeface="Calibri" pitchFamily="34" charset="-122"/>
                <a:cs typeface="Calibri" pitchFamily="34" charset="-120"/>
              </a:rPr>
              <a:t>Qərar Verən / Operator</a:t>
            </a:r>
            <a:endParaRPr lang="en-US" sz="1100" dirty="0"/>
          </a:p>
        </p:txBody>
      </p:sp>
      <p:sp>
        <p:nvSpPr>
          <p:cNvPr id="18" name="Text 16"/>
          <p:cNvSpPr/>
          <p:nvPr/>
        </p:nvSpPr>
        <p:spPr>
          <a:xfrm>
            <a:off x="4800600" y="1618488"/>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Stol dövriyyəsi yaxşılaşır: QR tətbiq içi ödəniş hər yeməyin sonundakı 15–20 dəqiqəlik gözləməni aradan qaldırır.</a:t>
            </a:r>
            <a:endParaRPr lang="en-US" sz="1150" dirty="0"/>
          </a:p>
        </p:txBody>
      </p:sp>
      <p:sp>
        <p:nvSpPr>
          <p:cNvPr id="19" name="Text 17"/>
          <p:cNvSpPr/>
          <p:nvPr/>
        </p:nvSpPr>
        <p:spPr>
          <a:xfrm>
            <a:off x="4800600" y="2002536"/>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Gəlməyənlər avtomatik depozit tutma vasitəsilə maliyyə cəhətdən qorunur.</a:t>
            </a:r>
            <a:endParaRPr lang="en-US" sz="1150" dirty="0"/>
          </a:p>
        </p:txBody>
      </p:sp>
      <p:sp>
        <p:nvSpPr>
          <p:cNvPr id="20" name="Text 18"/>
          <p:cNvSpPr/>
          <p:nvPr/>
        </p:nvSpPr>
        <p:spPr>
          <a:xfrm>
            <a:off x="4800600" y="2386584"/>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Rəqəmsal loyallıq bahalı fiziki möhür kartı çapını əvəz edir — xalis qənaət.</a:t>
            </a:r>
            <a:endParaRPr lang="en-US" sz="1150" dirty="0"/>
          </a:p>
        </p:txBody>
      </p:sp>
      <p:sp>
        <p:nvSpPr>
          <p:cNvPr id="21" name="Shape 19"/>
          <p:cNvSpPr/>
          <p:nvPr/>
        </p:nvSpPr>
        <p:spPr>
          <a:xfrm>
            <a:off x="182880" y="2971800"/>
            <a:ext cx="4251960" cy="1920240"/>
          </a:xfrm>
          <a:prstGeom prst="rect">
            <a:avLst/>
          </a:prstGeom>
          <a:solidFill>
            <a:srgbClr val="FFFFFF"/>
          </a:solidFill>
          <a:ln w="12700">
            <a:solidFill>
              <a:srgbClr val="F59E0B"/>
            </a:solidFill>
            <a:prstDash val="solid"/>
          </a:ln>
          <a:effectLst>
            <a:outerShdw blurRad="101600" dist="38100" dir="8100000" algn="bl" rotWithShape="0">
              <a:srgbClr val="000000">
                <a:alpha val="10000"/>
              </a:srgbClr>
            </a:outerShdw>
          </a:effectLst>
        </p:spPr>
      </p:sp>
      <p:sp>
        <p:nvSpPr>
          <p:cNvPr id="22" name="Shape 20"/>
          <p:cNvSpPr/>
          <p:nvPr/>
        </p:nvSpPr>
        <p:spPr>
          <a:xfrm>
            <a:off x="182880" y="2971800"/>
            <a:ext cx="4251960" cy="64008"/>
          </a:xfrm>
          <a:prstGeom prst="rect">
            <a:avLst/>
          </a:prstGeom>
          <a:solidFill>
            <a:srgbClr val="F59E0B"/>
          </a:solidFill>
          <a:ln w="12700">
            <a:solidFill>
              <a:srgbClr val="F59E0B"/>
            </a:solidFill>
            <a:prstDash val="solid"/>
          </a:ln>
        </p:spPr>
      </p:sp>
      <p:sp>
        <p:nvSpPr>
          <p:cNvPr id="23" name="Text 21"/>
          <p:cNvSpPr/>
          <p:nvPr/>
        </p:nvSpPr>
        <p:spPr>
          <a:xfrm>
            <a:off x="274320" y="306324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24" name="Text 22"/>
          <p:cNvSpPr/>
          <p:nvPr/>
        </p:nvSpPr>
        <p:spPr>
          <a:xfrm>
            <a:off x="868680" y="3063240"/>
            <a:ext cx="3383280" cy="29260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Məlumat Analitiki</a:t>
            </a:r>
            <a:endParaRPr lang="en-US" sz="1400" dirty="0"/>
          </a:p>
        </p:txBody>
      </p:sp>
      <p:sp>
        <p:nvSpPr>
          <p:cNvPr id="25" name="Text 23"/>
          <p:cNvSpPr/>
          <p:nvPr/>
        </p:nvSpPr>
        <p:spPr>
          <a:xfrm>
            <a:off x="868680" y="3355848"/>
            <a:ext cx="3383280" cy="219456"/>
          </a:xfrm>
          <a:prstGeom prst="rect">
            <a:avLst/>
          </a:prstGeom>
          <a:noFill/>
          <a:ln/>
        </p:spPr>
        <p:txBody>
          <a:bodyPr wrap="square" rtlCol="0" anchor="ctr"/>
          <a:lstStyle/>
          <a:p>
            <a:pPr marL="0" indent="0">
              <a:buNone/>
            </a:pPr>
            <a:r>
              <a:rPr lang="en-US" sz="1100" i="1" dirty="0">
                <a:solidFill>
                  <a:srgbClr val="F59E0B"/>
                </a:solidFill>
                <a:latin typeface="Calibri" pitchFamily="34" charset="0"/>
                <a:ea typeface="Calibri" pitchFamily="34" charset="-122"/>
                <a:cs typeface="Calibri" pitchFamily="34" charset="-120"/>
              </a:rPr>
              <a:t>AI / ML Optimallaşdırıcı</a:t>
            </a:r>
            <a:endParaRPr lang="en-US" sz="1100" dirty="0"/>
          </a:p>
        </p:txBody>
      </p:sp>
      <p:sp>
        <p:nvSpPr>
          <p:cNvPr id="26" name="Text 24"/>
          <p:cNvSpPr/>
          <p:nvPr/>
        </p:nvSpPr>
        <p:spPr>
          <a:xfrm>
            <a:off x="320040" y="3637256"/>
            <a:ext cx="411480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Hər istifadəçi əməliyyatı (sifariş, reytinq, keç, axtarış) model təlimi üçün strukturlaşdırılmış davranış məlumatı yaradır.</a:t>
            </a:r>
            <a:endParaRPr lang="en-US" sz="1150" dirty="0"/>
          </a:p>
        </p:txBody>
      </p:sp>
      <p:sp>
        <p:nvSpPr>
          <p:cNvPr id="27" name="Text 25"/>
          <p:cNvSpPr/>
          <p:nvPr/>
        </p:nvSpPr>
        <p:spPr>
          <a:xfrm>
            <a:off x="320040" y="4014216"/>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Hava × sifariş korrelyasiya verilənlər dəsti hər API dövrü ilə böyüyür.</a:t>
            </a:r>
            <a:endParaRPr lang="en-US" sz="1150" dirty="0"/>
          </a:p>
        </p:txBody>
      </p:sp>
      <p:sp>
        <p:nvSpPr>
          <p:cNvPr id="28" name="Text 26"/>
          <p:cNvSpPr/>
          <p:nvPr/>
        </p:nvSpPr>
        <p:spPr>
          <a:xfrm>
            <a:off x="320040" y="4398264"/>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Allergiya + diet məlumatı əhali səviyyəsindəki trend analizinə imkan verir.</a:t>
            </a:r>
            <a:endParaRPr lang="en-US" sz="1150" dirty="0"/>
          </a:p>
        </p:txBody>
      </p:sp>
      <p:sp>
        <p:nvSpPr>
          <p:cNvPr id="29" name="Shape 27"/>
          <p:cNvSpPr/>
          <p:nvPr/>
        </p:nvSpPr>
        <p:spPr>
          <a:xfrm>
            <a:off x="4663440" y="2971800"/>
            <a:ext cx="4251960" cy="1920240"/>
          </a:xfrm>
          <a:prstGeom prst="rect">
            <a:avLst/>
          </a:prstGeom>
          <a:solidFill>
            <a:srgbClr val="FFFFFF"/>
          </a:solidFill>
          <a:ln w="12700">
            <a:solidFill>
              <a:srgbClr val="10B981"/>
            </a:solidFill>
            <a:prstDash val="solid"/>
          </a:ln>
          <a:effectLst>
            <a:outerShdw blurRad="101600" dist="38100" dir="8100000" algn="bl" rotWithShape="0">
              <a:srgbClr val="000000">
                <a:alpha val="10000"/>
              </a:srgbClr>
            </a:outerShdw>
          </a:effectLst>
        </p:spPr>
      </p:sp>
      <p:sp>
        <p:nvSpPr>
          <p:cNvPr id="30" name="Shape 28"/>
          <p:cNvSpPr/>
          <p:nvPr/>
        </p:nvSpPr>
        <p:spPr>
          <a:xfrm>
            <a:off x="4663440" y="2971800"/>
            <a:ext cx="4251960" cy="64008"/>
          </a:xfrm>
          <a:prstGeom prst="rect">
            <a:avLst/>
          </a:prstGeom>
          <a:solidFill>
            <a:srgbClr val="10B981"/>
          </a:solidFill>
          <a:ln w="12700">
            <a:solidFill>
              <a:srgbClr val="10B981"/>
            </a:solidFill>
            <a:prstDash val="solid"/>
          </a:ln>
        </p:spPr>
      </p:sp>
      <p:sp>
        <p:nvSpPr>
          <p:cNvPr id="31" name="Text 29"/>
          <p:cNvSpPr/>
          <p:nvPr/>
        </p:nvSpPr>
        <p:spPr>
          <a:xfrm>
            <a:off x="4754880" y="3063240"/>
            <a:ext cx="548640" cy="457200"/>
          </a:xfrm>
          <a:prstGeom prst="rect">
            <a:avLst/>
          </a:prstGeom>
          <a:noFill/>
          <a:ln/>
        </p:spPr>
        <p:txBody>
          <a:bodyPr wrap="square" rtlCol="0" anchor="ctr"/>
          <a:lstStyle/>
          <a:p>
            <a:pPr marL="0" indent="0">
              <a:buNone/>
            </a:pPr>
            <a:r>
              <a:rPr lang="en-US" sz="2400" dirty="0">
                <a:solidFill>
                  <a:srgbClr val="000000"/>
                </a:solidFill>
              </a:rPr>
              <a:t>💻</a:t>
            </a:r>
            <a:endParaRPr lang="en-US" sz="2400" dirty="0"/>
          </a:p>
        </p:txBody>
      </p:sp>
      <p:sp>
        <p:nvSpPr>
          <p:cNvPr id="32" name="Text 30"/>
          <p:cNvSpPr/>
          <p:nvPr/>
        </p:nvSpPr>
        <p:spPr>
          <a:xfrm>
            <a:off x="5349240" y="3063240"/>
            <a:ext cx="3383280" cy="292608"/>
          </a:xfrm>
          <a:prstGeom prst="rect">
            <a:avLst/>
          </a:prstGeom>
          <a:noFill/>
          <a:ln/>
        </p:spPr>
        <p:txBody>
          <a:bodyPr wrap="square" rtlCol="0" anchor="ctr"/>
          <a:lstStyle/>
          <a:p>
            <a:pPr marL="0" indent="0">
              <a:buNone/>
            </a:pPr>
            <a:r>
              <a:rPr lang="en-US" sz="1400" b="1" dirty="0">
                <a:solidFill>
                  <a:srgbClr val="0F172A"/>
                </a:solidFill>
                <a:latin typeface="Calibri" pitchFamily="34" charset="0"/>
                <a:ea typeface="Calibri" pitchFamily="34" charset="-122"/>
                <a:cs typeface="Calibri" pitchFamily="34" charset="-120"/>
              </a:rPr>
              <a:t>Dev / QA Komandası</a:t>
            </a:r>
            <a:endParaRPr lang="en-US" sz="1400" dirty="0"/>
          </a:p>
        </p:txBody>
      </p:sp>
      <p:sp>
        <p:nvSpPr>
          <p:cNvPr id="33" name="Text 31"/>
          <p:cNvSpPr/>
          <p:nvPr/>
        </p:nvSpPr>
        <p:spPr>
          <a:xfrm>
            <a:off x="5349240" y="3355848"/>
            <a:ext cx="3383280" cy="219456"/>
          </a:xfrm>
          <a:prstGeom prst="rect">
            <a:avLst/>
          </a:prstGeom>
          <a:noFill/>
          <a:ln/>
        </p:spPr>
        <p:txBody>
          <a:bodyPr wrap="square" rtlCol="0" anchor="ctr"/>
          <a:lstStyle/>
          <a:p>
            <a:pPr marL="0" indent="0">
              <a:buNone/>
            </a:pPr>
            <a:r>
              <a:rPr lang="en-US" sz="1100" i="1" dirty="0">
                <a:solidFill>
                  <a:srgbClr val="10B981"/>
                </a:solidFill>
                <a:latin typeface="Calibri" pitchFamily="34" charset="0"/>
                <a:ea typeface="Calibri" pitchFamily="34" charset="-122"/>
                <a:cs typeface="Calibri" pitchFamily="34" charset="-120"/>
              </a:rPr>
              <a:t>Qurucular &amp; Test Edicilər</a:t>
            </a:r>
            <a:endParaRPr lang="en-US" sz="1100" dirty="0"/>
          </a:p>
        </p:txBody>
      </p:sp>
      <p:sp>
        <p:nvSpPr>
          <p:cNvPr id="34" name="Text 32"/>
          <p:cNvSpPr/>
          <p:nvPr/>
        </p:nvSpPr>
        <p:spPr>
          <a:xfrm>
            <a:off x="4800600" y="3630168"/>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Xüsusi doğrulama qaydaları ilə aydın funksional tələblər testi sadə edir.</a:t>
            </a:r>
            <a:endParaRPr lang="en-US" sz="1150" dirty="0"/>
          </a:p>
        </p:txBody>
      </p:sp>
      <p:sp>
        <p:nvSpPr>
          <p:cNvPr id="35" name="Text 33"/>
          <p:cNvSpPr/>
          <p:nvPr/>
        </p:nvSpPr>
        <p:spPr>
          <a:xfrm>
            <a:off x="4800600" y="4014216"/>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Ekran-ekran modullu sənədləşmə komanda üzvlərinin paralel inkişafına imkan verir.</a:t>
            </a:r>
            <a:endParaRPr lang="en-US" sz="1150" dirty="0"/>
          </a:p>
        </p:txBody>
      </p:sp>
      <p:sp>
        <p:nvSpPr>
          <p:cNvPr id="36" name="Text 34"/>
          <p:cNvSpPr/>
          <p:nvPr/>
        </p:nvSpPr>
        <p:spPr>
          <a:xfrm>
            <a:off x="4800600" y="4398264"/>
            <a:ext cx="3977640" cy="347472"/>
          </a:xfrm>
          <a:prstGeom prst="rect">
            <a:avLst/>
          </a:prstGeom>
          <a:noFill/>
          <a:ln/>
        </p:spPr>
        <p:txBody>
          <a:bodyPr wrap="square" rtlCol="0" anchor="ctr"/>
          <a:lstStyle/>
          <a:p>
            <a:pPr marL="342900" indent="-342900">
              <a:buSzPct val="100000"/>
              <a:buChar char="•"/>
            </a:pPr>
            <a:r>
              <a:rPr lang="en-US" sz="1150" dirty="0">
                <a:solidFill>
                  <a:srgbClr val="64748B"/>
                </a:solidFill>
                <a:latin typeface="Calibri" pitchFamily="34" charset="0"/>
                <a:ea typeface="Calibri" pitchFamily="34" charset="-122"/>
                <a:cs typeface="Calibri" pitchFamily="34" charset="-120"/>
              </a:rPr>
              <a:t>Biznes qaydaları və istisna yolları tam spesifikasiya edilmişdir — qeyri-müəyyənlik yoxdur.</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LOYALLIK KARTI &amp; REYTİNQ SİSTEMİ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Uğurlu ödənişdən dərhal sonra aktiv olan iki funksiya — sadiqliyə təşviq edir, tövsiyələri yaxşılaşdırır</a:t>
            </a:r>
            <a:endParaRPr lang="en-US" sz="1200" dirty="0"/>
          </a:p>
        </p:txBody>
      </p:sp>
      <p:sp>
        <p:nvSpPr>
          <p:cNvPr id="5" name="Shape 3"/>
          <p:cNvSpPr/>
          <p:nvPr/>
        </p:nvSpPr>
        <p:spPr>
          <a:xfrm>
            <a:off x="182880" y="960120"/>
            <a:ext cx="4251960" cy="3931920"/>
          </a:xfrm>
          <a:prstGeom prst="rect">
            <a:avLst/>
          </a:prstGeom>
          <a:solidFill>
            <a:srgbClr val="FFFBEB"/>
          </a:solidFill>
          <a:ln w="12700">
            <a:solidFill>
              <a:srgbClr val="F59E0B"/>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4251960" cy="457200"/>
          </a:xfrm>
          <a:prstGeom prst="rect">
            <a:avLst/>
          </a:prstGeom>
          <a:solidFill>
            <a:srgbClr val="F59E0B"/>
          </a:solidFill>
          <a:ln w="12700">
            <a:solidFill>
              <a:srgbClr val="F59E0B"/>
            </a:solidFill>
            <a:prstDash val="solid"/>
          </a:ln>
        </p:spPr>
      </p:sp>
      <p:sp>
        <p:nvSpPr>
          <p:cNvPr id="7" name="Text 5"/>
          <p:cNvSpPr/>
          <p:nvPr/>
        </p:nvSpPr>
        <p:spPr>
          <a:xfrm>
            <a:off x="274320" y="987552"/>
            <a:ext cx="406908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Rəqəmsal Loyallıq Kartı</a:t>
            </a:r>
            <a:endParaRPr lang="en-US" sz="1400" dirty="0"/>
          </a:p>
        </p:txBody>
      </p:sp>
      <p:sp>
        <p:nvSpPr>
          <p:cNvPr id="8" name="Text 6"/>
          <p:cNvSpPr/>
          <p:nvPr/>
        </p:nvSpPr>
        <p:spPr>
          <a:xfrm>
            <a:off x="320040" y="1481328"/>
            <a:ext cx="3977640" cy="50292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Ödəniş uğuru ekranından sonra dərhal göstərilir. Kart 10 uyğun sifarişi təmsil edən 10 dairə göstərir.</a:t>
            </a:r>
            <a:endParaRPr lang="en-US" sz="1200" dirty="0"/>
          </a:p>
        </p:txBody>
      </p:sp>
      <p:sp>
        <p:nvSpPr>
          <p:cNvPr id="9" name="Shape 7"/>
          <p:cNvSpPr/>
          <p:nvPr/>
        </p:nvSpPr>
        <p:spPr>
          <a:xfrm>
            <a:off x="411480" y="2103120"/>
            <a:ext cx="548640" cy="548640"/>
          </a:xfrm>
          <a:prstGeom prst="ellipse">
            <a:avLst/>
          </a:prstGeom>
          <a:solidFill>
            <a:srgbClr val="0D9488"/>
          </a:solidFill>
          <a:ln w="12700">
            <a:solidFill>
              <a:srgbClr val="0D9488"/>
            </a:solidFill>
            <a:prstDash val="solid"/>
          </a:ln>
        </p:spPr>
      </p:sp>
      <p:sp>
        <p:nvSpPr>
          <p:cNvPr id="10" name="Text 8"/>
          <p:cNvSpPr/>
          <p:nvPr/>
        </p:nvSpPr>
        <p:spPr>
          <a:xfrm>
            <a:off x="411480" y="210312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1179576" y="2103120"/>
            <a:ext cx="548640" cy="548640"/>
          </a:xfrm>
          <a:prstGeom prst="ellipse">
            <a:avLst/>
          </a:prstGeom>
          <a:solidFill>
            <a:srgbClr val="0D9488"/>
          </a:solidFill>
          <a:ln w="12700">
            <a:solidFill>
              <a:srgbClr val="0D9488"/>
            </a:solidFill>
            <a:prstDash val="solid"/>
          </a:ln>
        </p:spPr>
      </p:sp>
      <p:sp>
        <p:nvSpPr>
          <p:cNvPr id="12" name="Text 10"/>
          <p:cNvSpPr/>
          <p:nvPr/>
        </p:nvSpPr>
        <p:spPr>
          <a:xfrm>
            <a:off x="1179576" y="210312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1947672" y="2103120"/>
            <a:ext cx="548640" cy="548640"/>
          </a:xfrm>
          <a:prstGeom prst="ellipse">
            <a:avLst/>
          </a:prstGeom>
          <a:solidFill>
            <a:srgbClr val="0D9488"/>
          </a:solidFill>
          <a:ln w="12700">
            <a:solidFill>
              <a:srgbClr val="0D9488"/>
            </a:solidFill>
            <a:prstDash val="solid"/>
          </a:ln>
        </p:spPr>
      </p:sp>
      <p:sp>
        <p:nvSpPr>
          <p:cNvPr id="14" name="Text 12"/>
          <p:cNvSpPr/>
          <p:nvPr/>
        </p:nvSpPr>
        <p:spPr>
          <a:xfrm>
            <a:off x="1947672" y="2103120"/>
            <a:ext cx="548640" cy="54864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2715768" y="2103120"/>
            <a:ext cx="548640" cy="548640"/>
          </a:xfrm>
          <a:prstGeom prst="ellipse">
            <a:avLst/>
          </a:prstGeom>
          <a:solidFill>
            <a:srgbClr val="E2E8F0"/>
          </a:solidFill>
          <a:ln w="12700">
            <a:solidFill>
              <a:srgbClr val="CBD5E1"/>
            </a:solidFill>
            <a:prstDash val="solid"/>
          </a:ln>
        </p:spPr>
      </p:sp>
      <p:sp>
        <p:nvSpPr>
          <p:cNvPr id="16" name="Shape 14"/>
          <p:cNvSpPr/>
          <p:nvPr/>
        </p:nvSpPr>
        <p:spPr>
          <a:xfrm>
            <a:off x="3483864" y="2103120"/>
            <a:ext cx="548640" cy="548640"/>
          </a:xfrm>
          <a:prstGeom prst="ellipse">
            <a:avLst/>
          </a:prstGeom>
          <a:solidFill>
            <a:srgbClr val="E2E8F0"/>
          </a:solidFill>
          <a:ln w="12700">
            <a:solidFill>
              <a:srgbClr val="CBD5E1"/>
            </a:solidFill>
            <a:prstDash val="solid"/>
          </a:ln>
        </p:spPr>
      </p:sp>
      <p:sp>
        <p:nvSpPr>
          <p:cNvPr id="17" name="Shape 15"/>
          <p:cNvSpPr/>
          <p:nvPr/>
        </p:nvSpPr>
        <p:spPr>
          <a:xfrm>
            <a:off x="411480" y="2816352"/>
            <a:ext cx="548640" cy="548640"/>
          </a:xfrm>
          <a:prstGeom prst="ellipse">
            <a:avLst/>
          </a:prstGeom>
          <a:solidFill>
            <a:srgbClr val="E2E8F0"/>
          </a:solidFill>
          <a:ln w="12700">
            <a:solidFill>
              <a:srgbClr val="CBD5E1"/>
            </a:solidFill>
            <a:prstDash val="solid"/>
          </a:ln>
        </p:spPr>
      </p:sp>
      <p:sp>
        <p:nvSpPr>
          <p:cNvPr id="18" name="Shape 16"/>
          <p:cNvSpPr/>
          <p:nvPr/>
        </p:nvSpPr>
        <p:spPr>
          <a:xfrm>
            <a:off x="1179576" y="2816352"/>
            <a:ext cx="548640" cy="548640"/>
          </a:xfrm>
          <a:prstGeom prst="ellipse">
            <a:avLst/>
          </a:prstGeom>
          <a:solidFill>
            <a:srgbClr val="E2E8F0"/>
          </a:solidFill>
          <a:ln w="12700">
            <a:solidFill>
              <a:srgbClr val="CBD5E1"/>
            </a:solidFill>
            <a:prstDash val="solid"/>
          </a:ln>
        </p:spPr>
      </p:sp>
      <p:sp>
        <p:nvSpPr>
          <p:cNvPr id="19" name="Shape 17"/>
          <p:cNvSpPr/>
          <p:nvPr/>
        </p:nvSpPr>
        <p:spPr>
          <a:xfrm>
            <a:off x="1947672" y="2816352"/>
            <a:ext cx="548640" cy="548640"/>
          </a:xfrm>
          <a:prstGeom prst="ellipse">
            <a:avLst/>
          </a:prstGeom>
          <a:solidFill>
            <a:srgbClr val="E2E8F0"/>
          </a:solidFill>
          <a:ln w="12700">
            <a:solidFill>
              <a:srgbClr val="CBD5E1"/>
            </a:solidFill>
            <a:prstDash val="solid"/>
          </a:ln>
        </p:spPr>
      </p:sp>
      <p:sp>
        <p:nvSpPr>
          <p:cNvPr id="20" name="Shape 18"/>
          <p:cNvSpPr/>
          <p:nvPr/>
        </p:nvSpPr>
        <p:spPr>
          <a:xfrm>
            <a:off x="2715768" y="2816352"/>
            <a:ext cx="548640" cy="548640"/>
          </a:xfrm>
          <a:prstGeom prst="ellipse">
            <a:avLst/>
          </a:prstGeom>
          <a:solidFill>
            <a:srgbClr val="E2E8F0"/>
          </a:solidFill>
          <a:ln w="12700">
            <a:solidFill>
              <a:srgbClr val="CBD5E1"/>
            </a:solidFill>
            <a:prstDash val="solid"/>
          </a:ln>
        </p:spPr>
      </p:sp>
      <p:sp>
        <p:nvSpPr>
          <p:cNvPr id="21" name="Shape 19"/>
          <p:cNvSpPr/>
          <p:nvPr/>
        </p:nvSpPr>
        <p:spPr>
          <a:xfrm>
            <a:off x="3483864" y="2816352"/>
            <a:ext cx="548640" cy="548640"/>
          </a:xfrm>
          <a:prstGeom prst="ellipse">
            <a:avLst/>
          </a:prstGeom>
          <a:solidFill>
            <a:srgbClr val="E2E8F0"/>
          </a:solidFill>
          <a:ln w="12700">
            <a:solidFill>
              <a:srgbClr val="CBD5E1"/>
            </a:solidFill>
            <a:prstDash val="solid"/>
          </a:ln>
        </p:spPr>
      </p:sp>
      <p:sp>
        <p:nvSpPr>
          <p:cNvPr id="22" name="Text 20"/>
          <p:cNvSpPr/>
          <p:nvPr/>
        </p:nvSpPr>
        <p:spPr>
          <a:xfrm>
            <a:off x="320040" y="3566160"/>
            <a:ext cx="3977640" cy="320040"/>
          </a:xfrm>
          <a:prstGeom prst="rect">
            <a:avLst/>
          </a:prstGeom>
          <a:noFill/>
          <a:ln/>
        </p:spPr>
        <p:txBody>
          <a:bodyPr wrap="square"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Nümunə: 10-dan 3-ü doldurulub — pulsuz mükafat üçün 7 sifariş qalıb</a:t>
            </a:r>
            <a:endParaRPr lang="en-US" sz="1100" dirty="0"/>
          </a:p>
        </p:txBody>
      </p:sp>
      <p:sp>
        <p:nvSpPr>
          <p:cNvPr id="23" name="Text 21"/>
          <p:cNvSpPr/>
          <p:nvPr/>
        </p:nvSpPr>
        <p:spPr>
          <a:xfrm>
            <a:off x="320040" y="3931920"/>
            <a:ext cx="3977640" cy="777240"/>
          </a:xfrm>
          <a:prstGeom prst="rect">
            <a:avLst/>
          </a:prstGeom>
          <a:noFill/>
          <a:ln/>
        </p:spPr>
        <p:txBody>
          <a:bodyPr wrap="square" rtlCol="0" anchor="ctr"/>
          <a:lstStyle/>
          <a:p>
            <a:pPr marL="0" indent="0">
              <a:buNone/>
            </a:pPr>
            <a:r>
              <a:rPr lang="en-US" sz="1200" b="1" dirty="0">
                <a:solidFill>
                  <a:srgbClr val="0D9488"/>
                </a:solidFill>
                <a:latin typeface="Calibri" pitchFamily="34" charset="0"/>
                <a:ea typeface="Calibri" pitchFamily="34" charset="-122"/>
                <a:cs typeface="Calibri" pitchFamily="34" charset="-120"/>
              </a:rPr>
              <a:t>≥10 AZN</a:t>
            </a:r>
            <a:r>
              <a:rPr lang="en-US" sz="1200" dirty="0">
                <a:solidFill>
                  <a:srgbClr val="0F172A"/>
                </a:solidFill>
                <a:latin typeface="Calibri" pitchFamily="34" charset="0"/>
                <a:ea typeface="Calibri" pitchFamily="34" charset="-122"/>
                <a:cs typeface="Calibri" pitchFamily="34" charset="-120"/>
              </a:rPr>
              <a:t> olan hər sifariş bir dairə doldurur. 10 dolduruldu = pulsuz maddə kuponu. Qismən doldurulmuş kartlarda son tarix yoxdur.</a:t>
            </a:r>
            <a:endParaRPr lang="en-US" sz="1200" dirty="0"/>
          </a:p>
        </p:txBody>
      </p:sp>
      <p:sp>
        <p:nvSpPr>
          <p:cNvPr id="24" name="Shape 22"/>
          <p:cNvSpPr/>
          <p:nvPr/>
        </p:nvSpPr>
        <p:spPr>
          <a:xfrm>
            <a:off x="4709160" y="960120"/>
            <a:ext cx="4251960" cy="3931920"/>
          </a:xfrm>
          <a:prstGeom prst="rect">
            <a:avLst/>
          </a:prstGeom>
          <a:solidFill>
            <a:srgbClr val="F0FDFA"/>
          </a:solidFill>
          <a:ln w="12700">
            <a:solidFill>
              <a:srgbClr val="0D9488"/>
            </a:solidFill>
            <a:prstDash val="solid"/>
          </a:ln>
          <a:effectLst>
            <a:outerShdw blurRad="101600" dist="38100" dir="8100000" algn="bl" rotWithShape="0">
              <a:srgbClr val="000000">
                <a:alpha val="10000"/>
              </a:srgbClr>
            </a:outerShdw>
          </a:effectLst>
        </p:spPr>
      </p:sp>
      <p:sp>
        <p:nvSpPr>
          <p:cNvPr id="25" name="Shape 23"/>
          <p:cNvSpPr/>
          <p:nvPr/>
        </p:nvSpPr>
        <p:spPr>
          <a:xfrm>
            <a:off x="4709160" y="960120"/>
            <a:ext cx="4251960" cy="457200"/>
          </a:xfrm>
          <a:prstGeom prst="rect">
            <a:avLst/>
          </a:prstGeom>
          <a:solidFill>
            <a:srgbClr val="0D9488"/>
          </a:solidFill>
          <a:ln w="12700">
            <a:solidFill>
              <a:srgbClr val="0D9488"/>
            </a:solidFill>
            <a:prstDash val="solid"/>
          </a:ln>
        </p:spPr>
      </p:sp>
      <p:sp>
        <p:nvSpPr>
          <p:cNvPr id="26" name="Text 24"/>
          <p:cNvSpPr/>
          <p:nvPr/>
        </p:nvSpPr>
        <p:spPr>
          <a:xfrm>
            <a:off x="4800600" y="987552"/>
            <a:ext cx="4069080" cy="4114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Ulduz Reytinqi &amp; Yenidən Sıralama</a:t>
            </a:r>
            <a:endParaRPr lang="en-US" sz="1400" dirty="0"/>
          </a:p>
        </p:txBody>
      </p:sp>
      <p:sp>
        <p:nvSpPr>
          <p:cNvPr id="27" name="Text 25"/>
          <p:cNvSpPr/>
          <p:nvPr/>
        </p:nvSpPr>
        <p:spPr>
          <a:xfrm>
            <a:off x="4846320" y="1481328"/>
            <a:ext cx="3977640" cy="502920"/>
          </a:xfrm>
          <a:prstGeom prst="rect">
            <a:avLst/>
          </a:prstGeom>
          <a:noFill/>
          <a:ln/>
        </p:spPr>
        <p:txBody>
          <a:bodyPr wrap="square" rtlCol="0" anchor="ctr"/>
          <a:lstStyle/>
          <a:p>
            <a:pPr marL="0" indent="0">
              <a:buNone/>
            </a:pPr>
            <a:r>
              <a:rPr lang="en-US" sz="1200" dirty="0">
                <a:solidFill>
                  <a:srgbClr val="0F172A"/>
                </a:solidFill>
                <a:latin typeface="Calibri" pitchFamily="34" charset="0"/>
                <a:ea typeface="Calibri" pitchFamily="34" charset="-122"/>
                <a:cs typeface="Calibri" pitchFamily="34" charset="-120"/>
              </a:rPr>
              <a:t>Loyallıq kartından sonra 5 ulduzlu reytinq ekranı görsənir. Müştəri ulduz basdıqda seçilmiş ulduz və soldakılar sarı rəngə bürünür.</a:t>
            </a:r>
            <a:endParaRPr lang="en-US" sz="1200" dirty="0"/>
          </a:p>
        </p:txBody>
      </p:sp>
      <p:sp>
        <p:nvSpPr>
          <p:cNvPr id="28" name="Text 26"/>
          <p:cNvSpPr/>
          <p:nvPr/>
        </p:nvSpPr>
        <p:spPr>
          <a:xfrm>
            <a:off x="4846320" y="2103120"/>
            <a:ext cx="3977640" cy="502920"/>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29" name="Shape 27"/>
          <p:cNvSpPr/>
          <p:nvPr/>
        </p:nvSpPr>
        <p:spPr>
          <a:xfrm>
            <a:off x="4800600" y="2788920"/>
            <a:ext cx="3977640" cy="914400"/>
          </a:xfrm>
          <a:prstGeom prst="rect">
            <a:avLst/>
          </a:prstGeom>
          <a:solidFill>
            <a:srgbClr val="FFFFFF"/>
          </a:solidFill>
          <a:ln w="12700">
            <a:solidFill>
              <a:srgbClr val="10B981"/>
            </a:solidFill>
            <a:prstDash val="solid"/>
          </a:ln>
        </p:spPr>
      </p:sp>
      <p:sp>
        <p:nvSpPr>
          <p:cNvPr id="30" name="Text 28"/>
          <p:cNvSpPr/>
          <p:nvPr/>
        </p:nvSpPr>
        <p:spPr>
          <a:xfrm>
            <a:off x="4892040" y="2834640"/>
            <a:ext cx="3794760" cy="320040"/>
          </a:xfrm>
          <a:prstGeom prst="rect">
            <a:avLst/>
          </a:prstGeom>
          <a:noFill/>
          <a:ln/>
        </p:spPr>
        <p:txBody>
          <a:bodyPr wrap="square" rtlCol="0" anchor="ctr"/>
          <a:lstStyle/>
          <a:p>
            <a:pPr marL="0" indent="0">
              <a:buNone/>
            </a:pPr>
            <a:r>
              <a:rPr lang="en-US" sz="1200" b="1" dirty="0">
                <a:solidFill>
                  <a:srgbClr val="10B981"/>
                </a:solidFill>
                <a:latin typeface="Calibri" pitchFamily="34" charset="0"/>
                <a:ea typeface="Calibri" pitchFamily="34" charset="-122"/>
                <a:cs typeface="Calibri" pitchFamily="34" charset="-120"/>
              </a:rPr>
              <a:t>⭐⭐⭐⭐⭐  və ya  ⭐⭐⭐⭐  →  Yüksəldi</a:t>
            </a:r>
            <a:endParaRPr lang="en-US" sz="1200" dirty="0"/>
          </a:p>
        </p:txBody>
      </p:sp>
      <p:sp>
        <p:nvSpPr>
          <p:cNvPr id="31" name="Text 29"/>
          <p:cNvSpPr/>
          <p:nvPr/>
        </p:nvSpPr>
        <p:spPr>
          <a:xfrm>
            <a:off x="4892040" y="3163824"/>
            <a:ext cx="3794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Restoran 'Sizin Tərəfinizdən Yüksək Qiymətləndirildi' kimi işarələnir. Növbəti sessiyalarda 'Tövsiyə Edilən' tabında ön sıralara çıxır.</a:t>
            </a:r>
            <a:endParaRPr lang="en-US" sz="1100" dirty="0"/>
          </a:p>
        </p:txBody>
      </p:sp>
      <p:sp>
        <p:nvSpPr>
          <p:cNvPr id="32" name="Shape 30"/>
          <p:cNvSpPr/>
          <p:nvPr/>
        </p:nvSpPr>
        <p:spPr>
          <a:xfrm>
            <a:off x="4800600" y="3767328"/>
            <a:ext cx="3977640" cy="914400"/>
          </a:xfrm>
          <a:prstGeom prst="rect">
            <a:avLst/>
          </a:prstGeom>
          <a:solidFill>
            <a:srgbClr val="FFFFFF"/>
          </a:solidFill>
          <a:ln w="12700">
            <a:solidFill>
              <a:srgbClr val="EF4444"/>
            </a:solidFill>
            <a:prstDash val="solid"/>
          </a:ln>
        </p:spPr>
      </p:sp>
      <p:sp>
        <p:nvSpPr>
          <p:cNvPr id="33" name="Text 31"/>
          <p:cNvSpPr/>
          <p:nvPr/>
        </p:nvSpPr>
        <p:spPr>
          <a:xfrm>
            <a:off x="4892040" y="3813048"/>
            <a:ext cx="3794760" cy="320040"/>
          </a:xfrm>
          <a:prstGeom prst="rect">
            <a:avLst/>
          </a:prstGeom>
          <a:noFill/>
          <a:ln/>
        </p:spPr>
        <p:txBody>
          <a:bodyPr wrap="square" rtlCol="0" anchor="ctr"/>
          <a:lstStyle/>
          <a:p>
            <a:pPr marL="0" indent="0">
              <a:buNone/>
            </a:pPr>
            <a:r>
              <a:rPr lang="en-US" sz="1200" b="1" dirty="0">
                <a:solidFill>
                  <a:srgbClr val="EF4444"/>
                </a:solidFill>
                <a:latin typeface="Calibri" pitchFamily="34" charset="0"/>
                <a:ea typeface="Calibri" pitchFamily="34" charset="-122"/>
                <a:cs typeface="Calibri" pitchFamily="34" charset="-120"/>
              </a:rPr>
              <a:t>⭐⭐⭐  və ya  ⭐⭐  və ya  ⭐  →  Aşağı Düşdü</a:t>
            </a:r>
            <a:endParaRPr lang="en-US" sz="1200" dirty="0"/>
          </a:p>
        </p:txBody>
      </p:sp>
      <p:sp>
        <p:nvSpPr>
          <p:cNvPr id="34" name="Text 32"/>
          <p:cNvSpPr/>
          <p:nvPr/>
        </p:nvSpPr>
        <p:spPr>
          <a:xfrm>
            <a:off x="4892040" y="4142232"/>
            <a:ext cx="3794760" cy="475488"/>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Restoran 'Aşağı Qiymətləndirilmiş' kimi işarələnir. Siyahının aşağısına çəkilir. Yox olmur — tapıla bilir, lakin bir daha ön tövsiyə olmayacaq.</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GİRİŞ MODULU — QƏBUL MÜTƏRCİMİ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Login ekranı üçün tam funksional tələblər və xəta mesajları</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82880" y="914400"/>
          <a:ext cx="8778240" cy="3922776"/>
        </p:xfrm>
        <a:graphic>
          <a:graphicData uri="http://schemas.openxmlformats.org/drawingml/2006/table">
            <a:tbl>
              <a:tblPr/>
              <a:tblGrid>
                <a:gridCol w="118872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tblGrid>
              <a:tr h="356616">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FR / NFR ID</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Qəbul Mütərcimlərimi</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FR-01</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Giriş ekranında logo, başlıq və alt mətn düzgün göstərilməlidir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FR-02</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"Daxil ol", "Qeydiyyat", Gmail və Telefon nömrəsi ilə giriş düymələri kliklənə bilən olmalıdır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FR-03</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Gmail sahəsi minimum 6, maksimum 30 simvol qəbul etməlidir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FR-04</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İstifadəçi Gmail ilə uğurla daxil olduqda Ana Səhifəyə yönləndirilməlidir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FR-05</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Yanlış Gmail daxil edilərsə sistem xəta mesajı göstərməlidir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FR-06</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Telefon nömrəsi düzgün daxil edildikdə sistem OTP SMS göndərməlidir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FR-07</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OTP ekranında 4 xanadan ibarət kod sahəsi və 60 saniyelik timer göstərilməlidir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FR-08</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Yanlış nömrə daxil edilərsə sistem error mesajı göstərməlidir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8"/>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FR-09</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Timer bitdikdən sonra 'Yenidən SMS göndər' funksiyası aktiv olmalıdır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9"/>
                  </a:ext>
                </a:extLst>
              </a:tr>
              <a:tr h="356616">
                <a:tc>
                  <a:txBody>
                    <a:bodyPr/>
                    <a:lstStyle/>
                    <a:p>
                      <a:pPr marL="0" indent="0">
                        <a:buNone/>
                      </a:pPr>
                      <a:r>
                        <a:rPr lang="en-US" sz="1100" b="1" dirty="0">
                          <a:solidFill>
                            <a:srgbClr val="0D9488"/>
                          </a:solidFill>
                          <a:latin typeface="Calibri" pitchFamily="34" charset="0"/>
                          <a:ea typeface="Calibri" pitchFamily="34" charset="-122"/>
                          <a:cs typeface="Calibri" pitchFamily="34" charset="-120"/>
                        </a:rPr>
                        <a:t>FR-10</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0F172A"/>
                          </a:solidFill>
                          <a:latin typeface="Calibri" pitchFamily="34" charset="0"/>
                          <a:ea typeface="Calibri" pitchFamily="34" charset="-122"/>
                          <a:cs typeface="Calibri" pitchFamily="34" charset="-120"/>
                        </a:rPr>
                        <a:t>Qonaq istifadəçi Ana Səhifəyə daxil ola bilməli, lakin sifariş edə bilməməlidir</a:t>
                      </a:r>
                      <a:endParaRPr lang="en-US" sz="11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RACI MATRİSİ, ROLLAR VƏ XƏT MESAJLARI</a:t>
            </a:r>
            <a:endParaRPr lang="en-US" sz="24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Komanda məsuliyyəti, icazə modelləri və sistem xəta mesajları</a:t>
            </a:r>
            <a:endParaRPr lang="en-US" sz="1200" dirty="0"/>
          </a:p>
        </p:txBody>
      </p:sp>
      <p:sp>
        <p:nvSpPr>
          <p:cNvPr id="5" name="Text 3"/>
          <p:cNvSpPr/>
          <p:nvPr/>
        </p:nvSpPr>
        <p:spPr>
          <a:xfrm>
            <a:off x="182880" y="861804"/>
            <a:ext cx="4114800" cy="347472"/>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RACI Matrisi</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737407592"/>
              </p:ext>
            </p:extLst>
          </p:nvPr>
        </p:nvGraphicFramePr>
        <p:xfrm>
          <a:off x="225408" y="1169509"/>
          <a:ext cx="4114800" cy="1827320"/>
        </p:xfrm>
        <a:graphic>
          <a:graphicData uri="http://schemas.openxmlformats.org/drawingml/2006/table">
            <a:tbl>
              <a:tblPr/>
              <a:tblGrid>
                <a:gridCol w="18288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34253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Rola</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Şəxs / Komanda</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423309">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Responsible (R)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Frontend Developer, Backend Developer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42530">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Accountable (A)</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Product Owner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42530">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Consulted (C)</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UI/UX Dizayner, QA Komandası</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42530">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Informed (I)</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Dəstək Komandası</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4"/>
          <p:cNvSpPr/>
          <p:nvPr/>
        </p:nvSpPr>
        <p:spPr>
          <a:xfrm>
            <a:off x="4754880" y="855637"/>
            <a:ext cx="4114800" cy="347472"/>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Rol &amp; İcazələr</a:t>
            </a:r>
            <a:endParaRPr lang="en-US" sz="1500" dirty="0"/>
          </a:p>
        </p:txBody>
      </p:sp>
      <p:graphicFrame>
        <p:nvGraphicFramePr>
          <p:cNvPr id="37" name="Table 1"/>
          <p:cNvGraphicFramePr>
            <a:graphicFrameLocks noGrp="1"/>
          </p:cNvGraphicFramePr>
          <p:nvPr>
            <p:extLst>
              <p:ext uri="{D42A27DB-BD31-4B8C-83A1-F6EECF244321}">
                <p14:modId xmlns:p14="http://schemas.microsoft.com/office/powerpoint/2010/main" val="1014595965"/>
              </p:ext>
            </p:extLst>
          </p:nvPr>
        </p:nvGraphicFramePr>
        <p:xfrm>
          <a:off x="4797408" y="1169509"/>
          <a:ext cx="4206240" cy="1793430"/>
        </p:xfrm>
        <a:graphic>
          <a:graphicData uri="http://schemas.openxmlformats.org/drawingml/2006/table">
            <a:tbl>
              <a:tblPr/>
              <a:tblGrid>
                <a:gridCol w="201168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tblGrid>
              <a:tr h="358686">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Rol</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9488"/>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İcazə</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0D9488"/>
                    </a:solidFill>
                  </a:tcPr>
                </a:tc>
                <a:extLst>
                  <a:ext uri="{0D108BD9-81ED-4DB2-BD59-A6C34878D82A}">
                    <a16:rowId xmlns:a16="http://schemas.microsoft.com/office/drawing/2014/main" val="10000"/>
                  </a:ext>
                </a:extLst>
              </a:tr>
              <a:tr h="358686">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Qonaq İstifadəçi</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Menyuya baxış</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58686">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Qeydiyyatlı İstifadəçi</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Tam funksionallıq</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58686">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Admin</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İstifadəçi idarəetməsi</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358686">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Dəstək</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Müştəri dəstəyi funksiyaları</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9" name="Text 5"/>
          <p:cNvSpPr/>
          <p:nvPr/>
        </p:nvSpPr>
        <p:spPr>
          <a:xfrm>
            <a:off x="225408" y="3124485"/>
            <a:ext cx="8778240" cy="347472"/>
          </a:xfrm>
          <a:prstGeom prst="rect">
            <a:avLst/>
          </a:prstGeom>
          <a:noFill/>
          <a:ln/>
        </p:spPr>
        <p:txBody>
          <a:bodyPr wrap="square" rtlCol="0" anchor="ctr"/>
          <a:lstStyle/>
          <a:p>
            <a:pPr marL="0" indent="0">
              <a:buNone/>
            </a:pPr>
            <a:r>
              <a:rPr lang="en-US" sz="1500" b="1" dirty="0">
                <a:solidFill>
                  <a:srgbClr val="0F172A"/>
                </a:solidFill>
                <a:latin typeface="Calibri" pitchFamily="34" charset="0"/>
                <a:ea typeface="Calibri" pitchFamily="34" charset="-122"/>
                <a:cs typeface="Calibri" pitchFamily="34" charset="-120"/>
              </a:rPr>
              <a:t>Xəta Mesajları</a:t>
            </a:r>
            <a:endParaRPr lang="en-US" sz="1500" dirty="0"/>
          </a:p>
        </p:txBody>
      </p:sp>
      <p:graphicFrame>
        <p:nvGraphicFramePr>
          <p:cNvPr id="55" name="Table 2"/>
          <p:cNvGraphicFramePr>
            <a:graphicFrameLocks noGrp="1"/>
          </p:cNvGraphicFramePr>
          <p:nvPr>
            <p:extLst>
              <p:ext uri="{D42A27DB-BD31-4B8C-83A1-F6EECF244321}">
                <p14:modId xmlns:p14="http://schemas.microsoft.com/office/powerpoint/2010/main" val="3512498317"/>
              </p:ext>
            </p:extLst>
          </p:nvPr>
        </p:nvGraphicFramePr>
        <p:xfrm>
          <a:off x="218320" y="3433363"/>
          <a:ext cx="8778240" cy="1645920"/>
        </p:xfrm>
        <a:graphic>
          <a:graphicData uri="http://schemas.openxmlformats.org/drawingml/2006/table">
            <a:tbl>
              <a:tblPr/>
              <a:tblGrid>
                <a:gridCol w="1828800">
                  <a:extLst>
                    <a:ext uri="{9D8B030D-6E8A-4147-A177-3AD203B41FA5}">
                      <a16:colId xmlns:a16="http://schemas.microsoft.com/office/drawing/2014/main" val="20000"/>
                    </a:ext>
                  </a:extLst>
                </a:gridCol>
                <a:gridCol w="6949440">
                  <a:extLst>
                    <a:ext uri="{9D8B030D-6E8A-4147-A177-3AD203B41FA5}">
                      <a16:colId xmlns:a16="http://schemas.microsoft.com/office/drawing/2014/main" val="20001"/>
                    </a:ext>
                  </a:extLst>
                </a:gridCol>
              </a:tblGrid>
              <a:tr h="25603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Xəta Kodu</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F4444"/>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Mesaj</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solidFill>
                      <a:srgbClr val="EF4444"/>
                    </a:solidFill>
                  </a:tcPr>
                </a:tc>
                <a:extLst>
                  <a:ext uri="{0D108BD9-81ED-4DB2-BD59-A6C34878D82A}">
                    <a16:rowId xmlns:a16="http://schemas.microsoft.com/office/drawing/2014/main" val="10000"/>
                  </a:ext>
                </a:extLst>
              </a:tr>
              <a:tr h="256032">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ERR-01</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Daxil etdiyiniz Gmail hesabı tapılmadı</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ERR-02</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Belə bir nömrə yoxdur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ERR-03</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OTP kodu yanlışdır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ERR-04</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OTP vaxtı bitmişdir — yenidən göndər</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256032">
                <a:tc>
                  <a:txBody>
                    <a:bodyPr/>
                    <a:lstStyle/>
                    <a:p>
                      <a:pPr marL="0" indent="0">
                        <a:buNone/>
                      </a:pPr>
                      <a:r>
                        <a:rPr lang="en-US" sz="1200" b="1" dirty="0">
                          <a:solidFill>
                            <a:srgbClr val="0F172A"/>
                          </a:solidFill>
                          <a:latin typeface="Calibri" pitchFamily="34" charset="0"/>
                          <a:ea typeface="Calibri" pitchFamily="34" charset="-122"/>
                          <a:cs typeface="Calibri" pitchFamily="34" charset="-120"/>
                        </a:rPr>
                        <a:t>ERR-05</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0F172A"/>
                          </a:solidFill>
                          <a:latin typeface="Calibri" pitchFamily="34" charset="0"/>
                          <a:ea typeface="Calibri" pitchFamily="34" charset="-122"/>
                          <a:cs typeface="Calibri" pitchFamily="34" charset="-120"/>
                        </a:rPr>
                        <a:t>Maksimum simvol limitinə çatdınız (30)</a:t>
                      </a:r>
                      <a:endParaRPr lang="en-US" sz="1200" dirty="0">
                        <a:latin typeface="Calibri" charset="0"/>
                        <a:ea typeface="Calibri" charset="0"/>
                        <a:cs typeface="Calibri" charset="0"/>
                      </a:endParaRPr>
                    </a:p>
                  </a:txBody>
                  <a:tcPr>
                    <a:lnL w="10160" cap="flat" cmpd="sng" algn="ctr">
                      <a:solidFill>
                        <a:srgbClr val="E2E8F0"/>
                      </a:solidFill>
                      <a:prstDash val="solid"/>
                      <a:round/>
                      <a:headEnd type="none" w="med" len="med"/>
                      <a:tailEnd type="none" w="med" len="med"/>
                    </a:lnL>
                    <a:lnR w="10160" cap="flat" cmpd="sng" algn="ctr">
                      <a:solidFill>
                        <a:srgbClr val="E2E8F0"/>
                      </a:solidFill>
                      <a:prstDash val="solid"/>
                      <a:round/>
                      <a:headEnd type="none" w="med" len="med"/>
                      <a:tailEnd type="none" w="med" len="med"/>
                    </a:lnR>
                    <a:lnT w="10160" cap="flat" cmpd="sng" algn="ctr">
                      <a:solidFill>
                        <a:srgbClr val="E2E8F0"/>
                      </a:solidFill>
                      <a:prstDash val="solid"/>
                      <a:round/>
                      <a:headEnd type="none" w="med" len="med"/>
                      <a:tailEnd type="none" w="med" len="med"/>
                    </a:lnT>
                    <a:lnB w="1016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300" b="1" dirty="0">
                <a:solidFill>
                  <a:srgbClr val="FFFFFF"/>
                </a:solidFill>
                <a:latin typeface="Calibri" pitchFamily="34" charset="0"/>
                <a:ea typeface="Calibri" pitchFamily="34" charset="-122"/>
                <a:cs typeface="Calibri" pitchFamily="34" charset="-120"/>
              </a:rPr>
              <a:t>QEYRİ-FUNKSİONAL TƏLƏBLƏRi ƏTRAFLICASI</a:t>
            </a:r>
            <a:endParaRPr lang="en-US" sz="23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Performans, Təhlükəsizlik, Etibarlılıq — istifadəçi görmədiyi amma hər şeyi idarə edən keyfiyyətlər</a:t>
            </a:r>
            <a:endParaRPr lang="en-US" sz="1200" dirty="0"/>
          </a:p>
        </p:txBody>
      </p:sp>
      <p:sp>
        <p:nvSpPr>
          <p:cNvPr id="5" name="Shape 3"/>
          <p:cNvSpPr/>
          <p:nvPr/>
        </p:nvSpPr>
        <p:spPr>
          <a:xfrm>
            <a:off x="182880" y="960120"/>
            <a:ext cx="4251960" cy="1920240"/>
          </a:xfrm>
          <a:prstGeom prst="rect">
            <a:avLst/>
          </a:prstGeom>
          <a:solidFill>
            <a:srgbClr val="F8FAFC"/>
          </a:solidFill>
          <a:ln w="12700">
            <a:solidFill>
              <a:srgbClr val="F59E0B"/>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4251960" cy="384048"/>
          </a:xfrm>
          <a:prstGeom prst="rect">
            <a:avLst/>
          </a:prstGeom>
          <a:solidFill>
            <a:srgbClr val="F59E0B"/>
          </a:solidFill>
          <a:ln w="12700">
            <a:solidFill>
              <a:srgbClr val="F59E0B"/>
            </a:solidFill>
            <a:prstDash val="solid"/>
          </a:ln>
        </p:spPr>
      </p:sp>
      <p:sp>
        <p:nvSpPr>
          <p:cNvPr id="7" name="Text 5"/>
          <p:cNvSpPr/>
          <p:nvPr/>
        </p:nvSpPr>
        <p:spPr>
          <a:xfrm>
            <a:off x="320040" y="1014984"/>
            <a:ext cx="3977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Performans</a:t>
            </a:r>
            <a:endParaRPr lang="en-US" sz="1400" dirty="0"/>
          </a:p>
        </p:txBody>
      </p:sp>
      <p:sp>
        <p:nvSpPr>
          <p:cNvPr id="8" name="Text 6"/>
          <p:cNvSpPr/>
          <p:nvPr/>
        </p:nvSpPr>
        <p:spPr>
          <a:xfrm>
            <a:off x="320040" y="1438584"/>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NFR-1: Fərdiləşdirilmiş tövsiyə siyahısı P95 gecikməsini nəzərə alaraq tətbiq açılışından 3 saniyə ərzində göstərilməlidir — hava API çağırışı, verilənlər bazası profil yüklənməsi və çapraz filtr icrasını əhatə edərək.</a:t>
            </a:r>
            <a:endParaRPr lang="en-US" sz="1100" dirty="0"/>
          </a:p>
        </p:txBody>
      </p:sp>
      <p:sp>
        <p:nvSpPr>
          <p:cNvPr id="9" name="Text 7"/>
          <p:cNvSpPr/>
          <p:nvPr/>
        </p:nvSpPr>
        <p:spPr>
          <a:xfrm>
            <a:off x="320040" y="2179464"/>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NFR-5: Axtarış nəticələri hər simvoldan sonra 500ms ərzində görsənməlidir. Real vaxt hava yeniləmələri tam səhifə yenilənməsi olmadan baş verməlidir.</a:t>
            </a:r>
            <a:endParaRPr lang="en-US" sz="1100" dirty="0"/>
          </a:p>
        </p:txBody>
      </p:sp>
      <p:sp>
        <p:nvSpPr>
          <p:cNvPr id="10" name="Shape 8"/>
          <p:cNvSpPr/>
          <p:nvPr/>
        </p:nvSpPr>
        <p:spPr>
          <a:xfrm>
            <a:off x="4663440" y="960120"/>
            <a:ext cx="4251960" cy="1920240"/>
          </a:xfrm>
          <a:prstGeom prst="rect">
            <a:avLst/>
          </a:prstGeom>
          <a:solidFill>
            <a:srgbClr val="F8FAFC"/>
          </a:solidFill>
          <a:ln w="12700">
            <a:solidFill>
              <a:srgbClr val="EF4444"/>
            </a:solidFill>
            <a:prstDash val="solid"/>
          </a:ln>
          <a:effectLst>
            <a:outerShdw blurRad="101600" dist="38100" dir="8100000" algn="bl" rotWithShape="0">
              <a:srgbClr val="000000">
                <a:alpha val="10000"/>
              </a:srgbClr>
            </a:outerShdw>
          </a:effectLst>
        </p:spPr>
      </p:sp>
      <p:sp>
        <p:nvSpPr>
          <p:cNvPr id="11" name="Shape 9"/>
          <p:cNvSpPr/>
          <p:nvPr/>
        </p:nvSpPr>
        <p:spPr>
          <a:xfrm>
            <a:off x="4663440" y="960120"/>
            <a:ext cx="4251960" cy="384048"/>
          </a:xfrm>
          <a:prstGeom prst="rect">
            <a:avLst/>
          </a:prstGeom>
          <a:solidFill>
            <a:srgbClr val="EF4444"/>
          </a:solidFill>
          <a:ln w="12700">
            <a:solidFill>
              <a:srgbClr val="EF4444"/>
            </a:solidFill>
            <a:prstDash val="solid"/>
          </a:ln>
        </p:spPr>
      </p:sp>
      <p:sp>
        <p:nvSpPr>
          <p:cNvPr id="12" name="Text 10"/>
          <p:cNvSpPr/>
          <p:nvPr/>
        </p:nvSpPr>
        <p:spPr>
          <a:xfrm>
            <a:off x="4800600" y="1014984"/>
            <a:ext cx="3977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Təhlükəsizlik</a:t>
            </a:r>
            <a:endParaRPr lang="en-US" sz="1400" dirty="0"/>
          </a:p>
        </p:txBody>
      </p:sp>
      <p:sp>
        <p:nvSpPr>
          <p:cNvPr id="13" name="Text 11"/>
          <p:cNvSpPr/>
          <p:nvPr/>
        </p:nvSpPr>
        <p:spPr>
          <a:xfrm>
            <a:off x="4800600" y="1396056"/>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NFR-2: Bütün şəxsi məlumatlar (ad, telefon, GPS koordinatları, ödəniş tokenləri) istirahətdə və tranzitdə AES-256 / TLS 1.3 ilə şifrəli saxlanmalıdır.</a:t>
            </a:r>
            <a:endParaRPr lang="en-US" sz="1100" dirty="0"/>
          </a:p>
        </p:txBody>
      </p:sp>
      <p:sp>
        <p:nvSpPr>
          <p:cNvPr id="14" name="Text 12"/>
          <p:cNvSpPr/>
          <p:nvPr/>
        </p:nvSpPr>
        <p:spPr>
          <a:xfrm>
            <a:off x="4800600" y="1931224"/>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NFR-3: Ödəniş məlumatları PCI-DSS Səviyyəsi 1 üzrə tokenləşdirilməlidir. Xam kart məlumatı heç vaxt FoodSense serverlərində saxlanmamalıdır.</a:t>
            </a:r>
            <a:endParaRPr lang="en-US" sz="1100" dirty="0"/>
          </a:p>
        </p:txBody>
      </p:sp>
      <p:sp>
        <p:nvSpPr>
          <p:cNvPr id="15" name="Text 13"/>
          <p:cNvSpPr/>
          <p:nvPr/>
        </p:nvSpPr>
        <p:spPr>
          <a:xfrm>
            <a:off x="4800600" y="2452216"/>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NFR-4: Məkan məlumatları heç vaxt üçüncü tərəf reklamçılarla paylaşılmamalıdır.</a:t>
            </a:r>
            <a:endParaRPr lang="en-US" sz="1100" dirty="0"/>
          </a:p>
        </p:txBody>
      </p:sp>
      <p:sp>
        <p:nvSpPr>
          <p:cNvPr id="16" name="Shape 14"/>
          <p:cNvSpPr/>
          <p:nvPr/>
        </p:nvSpPr>
        <p:spPr>
          <a:xfrm>
            <a:off x="182880" y="2971800"/>
            <a:ext cx="4251960" cy="192024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17" name="Shape 15"/>
          <p:cNvSpPr/>
          <p:nvPr/>
        </p:nvSpPr>
        <p:spPr>
          <a:xfrm>
            <a:off x="182880" y="2971800"/>
            <a:ext cx="4251960" cy="384048"/>
          </a:xfrm>
          <a:prstGeom prst="rect">
            <a:avLst/>
          </a:prstGeom>
          <a:solidFill>
            <a:srgbClr val="0D9488"/>
          </a:solidFill>
          <a:ln w="12700">
            <a:solidFill>
              <a:srgbClr val="0D9488"/>
            </a:solidFill>
            <a:prstDash val="solid"/>
          </a:ln>
        </p:spPr>
      </p:sp>
      <p:sp>
        <p:nvSpPr>
          <p:cNvPr id="18" name="Text 16"/>
          <p:cNvSpPr/>
          <p:nvPr/>
        </p:nvSpPr>
        <p:spPr>
          <a:xfrm>
            <a:off x="320040" y="3026664"/>
            <a:ext cx="3977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Etibarlılıq &amp; Miqyaslama</a:t>
            </a:r>
            <a:endParaRPr lang="en-US" sz="1400" dirty="0"/>
          </a:p>
        </p:txBody>
      </p:sp>
      <p:sp>
        <p:nvSpPr>
          <p:cNvPr id="19" name="Text 17"/>
          <p:cNvSpPr/>
          <p:nvPr/>
        </p:nvSpPr>
        <p:spPr>
          <a:xfrm>
            <a:off x="320040" y="3386472"/>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NFR-6: Sistem pik iş vaxtında (cüməaxşamı+cümə axşamları 19:00–22:00) performans düşmədən eyni vaxtda minimum 10.000 aktiv sessiyaya dözməlidir.</a:t>
            </a:r>
            <a:endParaRPr lang="en-US" sz="1100" dirty="0"/>
          </a:p>
        </p:txBody>
      </p:sp>
      <p:sp>
        <p:nvSpPr>
          <p:cNvPr id="20" name="Text 18"/>
          <p:cNvSpPr/>
          <p:nvPr/>
        </p:nvSpPr>
        <p:spPr>
          <a:xfrm>
            <a:off x="320040" y="3900376"/>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NFR-7: Restoran internet kəsilməsindən sonra sistem 2 dəqiqə ərzində yerli kənar qovşaqdan bərpa olunmalıdır. Sifariş məlumatı itirilməməlidir.</a:t>
            </a:r>
            <a:endParaRPr lang="en-US" sz="1100" dirty="0"/>
          </a:p>
        </p:txBody>
      </p:sp>
      <p:sp>
        <p:nvSpPr>
          <p:cNvPr id="21" name="Text 19"/>
          <p:cNvSpPr/>
          <p:nvPr/>
        </p:nvSpPr>
        <p:spPr>
          <a:xfrm>
            <a:off x="320040" y="4435544"/>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NFR-8: Yerli kənar qovşaq internet bərpa olunduqdan sonra bulud verilənlər bazası ilə 60 saniyə ərzində sinxronlaşmalıdır.</a:t>
            </a:r>
            <a:endParaRPr lang="en-US" sz="1100" dirty="0"/>
          </a:p>
        </p:txBody>
      </p:sp>
      <p:sp>
        <p:nvSpPr>
          <p:cNvPr id="22" name="Shape 20"/>
          <p:cNvSpPr/>
          <p:nvPr/>
        </p:nvSpPr>
        <p:spPr>
          <a:xfrm>
            <a:off x="4663440" y="2971800"/>
            <a:ext cx="4251960" cy="1920240"/>
          </a:xfrm>
          <a:prstGeom prst="rect">
            <a:avLst/>
          </a:prstGeom>
          <a:solidFill>
            <a:srgbClr val="F8FAFC"/>
          </a:solidFill>
          <a:ln w="12700">
            <a:solidFill>
              <a:srgbClr val="10B981"/>
            </a:solidFill>
            <a:prstDash val="solid"/>
          </a:ln>
          <a:effectLst>
            <a:outerShdw blurRad="101600" dist="38100" dir="8100000" algn="bl" rotWithShape="0">
              <a:srgbClr val="000000">
                <a:alpha val="10000"/>
              </a:srgbClr>
            </a:outerShdw>
          </a:effectLst>
        </p:spPr>
      </p:sp>
      <p:sp>
        <p:nvSpPr>
          <p:cNvPr id="23" name="Shape 21"/>
          <p:cNvSpPr/>
          <p:nvPr/>
        </p:nvSpPr>
        <p:spPr>
          <a:xfrm>
            <a:off x="4663440" y="2971800"/>
            <a:ext cx="4251960" cy="384048"/>
          </a:xfrm>
          <a:prstGeom prst="rect">
            <a:avLst/>
          </a:prstGeom>
          <a:solidFill>
            <a:srgbClr val="10B981"/>
          </a:solidFill>
          <a:ln w="12700">
            <a:solidFill>
              <a:srgbClr val="10B981"/>
            </a:solidFill>
            <a:prstDash val="solid"/>
          </a:ln>
        </p:spPr>
      </p:sp>
      <p:sp>
        <p:nvSpPr>
          <p:cNvPr id="24" name="Text 22"/>
          <p:cNvSpPr/>
          <p:nvPr/>
        </p:nvSpPr>
        <p:spPr>
          <a:xfrm>
            <a:off x="4800600" y="3026664"/>
            <a:ext cx="3977640" cy="292608"/>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  İstifadəyə Yararlılıq</a:t>
            </a:r>
            <a:endParaRPr lang="en-US" sz="1400" dirty="0"/>
          </a:p>
        </p:txBody>
      </p:sp>
      <p:sp>
        <p:nvSpPr>
          <p:cNvPr id="25" name="Text 23"/>
          <p:cNvSpPr/>
          <p:nvPr/>
        </p:nvSpPr>
        <p:spPr>
          <a:xfrm>
            <a:off x="4800600" y="3429000"/>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NFR-9: Tətbiq WCAG 2.1 AA standartlarına cavab verməlidir — ekran oxuyucular üçün uyğun etiketlər, minimum kontrast nisbəti 4.5:1.</a:t>
            </a:r>
            <a:endParaRPr lang="en-US" sz="1100" dirty="0"/>
          </a:p>
        </p:txBody>
      </p:sp>
      <p:sp>
        <p:nvSpPr>
          <p:cNvPr id="26" name="Text 24"/>
          <p:cNvSpPr/>
          <p:nvPr/>
        </p:nvSpPr>
        <p:spPr>
          <a:xfrm>
            <a:off x="4800600" y="3996632"/>
            <a:ext cx="3977640" cy="438912"/>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NFR-10: Onboarding axışı (giriş → sorğu → ana ekran) 3 dəqiqədən az çəkməlidir. Yeni istifadəçi ilk açılışda heç bir xarici yardım olmadan tamamlaya bilməlidir.</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0FDFA"/>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D9488"/>
          </a:solidFill>
          <a:ln w="12700">
            <a:solidFill>
              <a:srgbClr val="0D9488"/>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TEXNOLOGİYA &amp; ARXİTEKTURA</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99F6E4"/>
                </a:solidFill>
                <a:latin typeface="Calibri" pitchFamily="34" charset="0"/>
                <a:ea typeface="Calibri" pitchFamily="34" charset="-122"/>
                <a:cs typeface="Calibri" pitchFamily="34" charset="-120"/>
              </a:rPr>
              <a:t>FoodSense-in texniki yığımı — frontend, backend, verilənlər bazası, xarici inteqrasiyalar</a:t>
            </a:r>
            <a:endParaRPr lang="en-US" sz="1200" dirty="0"/>
          </a:p>
        </p:txBody>
      </p:sp>
      <p:sp>
        <p:nvSpPr>
          <p:cNvPr id="5" name="Shape 3"/>
          <p:cNvSpPr/>
          <p:nvPr/>
        </p:nvSpPr>
        <p:spPr>
          <a:xfrm>
            <a:off x="182880" y="960120"/>
            <a:ext cx="4251960" cy="1920240"/>
          </a:xfrm>
          <a:prstGeom prst="rect">
            <a:avLst/>
          </a:prstGeom>
          <a:solidFill>
            <a:srgbClr val="FFFFFF"/>
          </a:solidFill>
          <a:ln w="12700">
            <a:solidFill>
              <a:srgbClr val="7C3AED"/>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4251960" cy="73152"/>
          </a:xfrm>
          <a:prstGeom prst="rect">
            <a:avLst/>
          </a:prstGeom>
          <a:solidFill>
            <a:srgbClr val="7C3AED"/>
          </a:solidFill>
          <a:ln w="12700">
            <a:solidFill>
              <a:srgbClr val="7C3AED"/>
            </a:solidFill>
            <a:prstDash val="solid"/>
          </a:ln>
        </p:spPr>
      </p:sp>
      <p:sp>
        <p:nvSpPr>
          <p:cNvPr id="7" name="Text 5"/>
          <p:cNvSpPr/>
          <p:nvPr/>
        </p:nvSpPr>
        <p:spPr>
          <a:xfrm>
            <a:off x="320040" y="1069848"/>
            <a:ext cx="3977640" cy="365760"/>
          </a:xfrm>
          <a:prstGeom prst="rect">
            <a:avLst/>
          </a:prstGeom>
          <a:noFill/>
          <a:ln/>
        </p:spPr>
        <p:txBody>
          <a:bodyPr wrap="square" rtlCol="0" anchor="ctr"/>
          <a:lstStyle/>
          <a:p>
            <a:pPr marL="0" indent="0">
              <a:buNone/>
            </a:pPr>
            <a:r>
              <a:rPr lang="en-US" sz="1400" b="1" dirty="0">
                <a:solidFill>
                  <a:srgbClr val="7C3AED"/>
                </a:solidFill>
                <a:latin typeface="Calibri" pitchFamily="34" charset="0"/>
                <a:ea typeface="Calibri" pitchFamily="34" charset="-122"/>
                <a:cs typeface="Calibri" pitchFamily="34" charset="-120"/>
              </a:rPr>
              <a:t>📱  Frontend (Mobil)</a:t>
            </a:r>
            <a:endParaRPr lang="en-US" sz="1400" dirty="0"/>
          </a:p>
        </p:txBody>
      </p:sp>
      <p:sp>
        <p:nvSpPr>
          <p:cNvPr id="8" name="Text 6"/>
          <p:cNvSpPr/>
          <p:nvPr/>
        </p:nvSpPr>
        <p:spPr>
          <a:xfrm>
            <a:off x="320040" y="150876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React Native / Flutter çərçivəsi</a:t>
            </a:r>
            <a:endParaRPr lang="en-US" sz="1200" dirty="0"/>
          </a:p>
        </p:txBody>
      </p:sp>
      <p:sp>
        <p:nvSpPr>
          <p:cNvPr id="9" name="Text 7"/>
          <p:cNvSpPr/>
          <p:nvPr/>
        </p:nvSpPr>
        <p:spPr>
          <a:xfrm>
            <a:off x="320040" y="178308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Oflayn-ilk arxitektura (yerli kənar qovşaqla)</a:t>
            </a:r>
            <a:endParaRPr lang="en-US" sz="1200" dirty="0"/>
          </a:p>
        </p:txBody>
      </p:sp>
      <p:sp>
        <p:nvSpPr>
          <p:cNvPr id="10" name="Text 8"/>
          <p:cNvSpPr/>
          <p:nvPr/>
        </p:nvSpPr>
        <p:spPr>
          <a:xfrm>
            <a:off x="320040" y="205740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Real vaxt WebSocket bağlantısı</a:t>
            </a:r>
            <a:endParaRPr lang="en-US" sz="1200" dirty="0"/>
          </a:p>
        </p:txBody>
      </p:sp>
      <p:sp>
        <p:nvSpPr>
          <p:cNvPr id="11" name="Text 9"/>
          <p:cNvSpPr/>
          <p:nvPr/>
        </p:nvSpPr>
        <p:spPr>
          <a:xfrm>
            <a:off x="320040" y="233172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QR kamera inteqrasiyası</a:t>
            </a:r>
            <a:endParaRPr lang="en-US" sz="1200" dirty="0"/>
          </a:p>
        </p:txBody>
      </p:sp>
      <p:sp>
        <p:nvSpPr>
          <p:cNvPr id="12" name="Text 10"/>
          <p:cNvSpPr/>
          <p:nvPr/>
        </p:nvSpPr>
        <p:spPr>
          <a:xfrm>
            <a:off x="320040" y="260604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Ödəniş SDK (Stripe / Payriff)</a:t>
            </a:r>
            <a:endParaRPr lang="en-US" sz="1200" dirty="0"/>
          </a:p>
        </p:txBody>
      </p:sp>
      <p:sp>
        <p:nvSpPr>
          <p:cNvPr id="13" name="Shape 11"/>
          <p:cNvSpPr/>
          <p:nvPr/>
        </p:nvSpPr>
        <p:spPr>
          <a:xfrm>
            <a:off x="4663440" y="960120"/>
            <a:ext cx="4251960" cy="192024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14" name="Shape 12"/>
          <p:cNvSpPr/>
          <p:nvPr/>
        </p:nvSpPr>
        <p:spPr>
          <a:xfrm>
            <a:off x="4663440" y="960120"/>
            <a:ext cx="4251960" cy="73152"/>
          </a:xfrm>
          <a:prstGeom prst="rect">
            <a:avLst/>
          </a:prstGeom>
          <a:solidFill>
            <a:srgbClr val="0D9488"/>
          </a:solidFill>
          <a:ln w="12700">
            <a:solidFill>
              <a:srgbClr val="0D9488"/>
            </a:solidFill>
            <a:prstDash val="solid"/>
          </a:ln>
        </p:spPr>
      </p:sp>
      <p:sp>
        <p:nvSpPr>
          <p:cNvPr id="15" name="Text 13"/>
          <p:cNvSpPr/>
          <p:nvPr/>
        </p:nvSpPr>
        <p:spPr>
          <a:xfrm>
            <a:off x="4800600" y="1069848"/>
            <a:ext cx="3977640" cy="365760"/>
          </a:xfrm>
          <a:prstGeom prst="rect">
            <a:avLst/>
          </a:prstGeom>
          <a:noFill/>
          <a:ln/>
        </p:spPr>
        <p:txBody>
          <a:bodyPr wrap="square" rtlCol="0" anchor="ctr"/>
          <a:lstStyle/>
          <a:p>
            <a:pPr marL="0" indent="0">
              <a:buNone/>
            </a:pPr>
            <a:r>
              <a:rPr lang="en-US" sz="1400" b="1" dirty="0">
                <a:solidFill>
                  <a:srgbClr val="0D9488"/>
                </a:solidFill>
                <a:latin typeface="Calibri" pitchFamily="34" charset="0"/>
                <a:ea typeface="Calibri" pitchFamily="34" charset="-122"/>
                <a:cs typeface="Calibri" pitchFamily="34" charset="-120"/>
              </a:rPr>
              <a:t>⚙️  Backend (Servis)</a:t>
            </a:r>
            <a:endParaRPr lang="en-US" sz="1400" dirty="0"/>
          </a:p>
        </p:txBody>
      </p:sp>
      <p:sp>
        <p:nvSpPr>
          <p:cNvPr id="16" name="Text 14"/>
          <p:cNvSpPr/>
          <p:nvPr/>
        </p:nvSpPr>
        <p:spPr>
          <a:xfrm>
            <a:off x="4800600" y="150876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Node.js / Python FastAPI</a:t>
            </a:r>
            <a:endParaRPr lang="en-US" sz="1200" dirty="0"/>
          </a:p>
        </p:txBody>
      </p:sp>
      <p:sp>
        <p:nvSpPr>
          <p:cNvPr id="17" name="Text 15"/>
          <p:cNvSpPr/>
          <p:nvPr/>
        </p:nvSpPr>
        <p:spPr>
          <a:xfrm>
            <a:off x="4800600" y="178308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Mikro-servis arxitekturası</a:t>
            </a:r>
            <a:endParaRPr lang="en-US" sz="1200" dirty="0"/>
          </a:p>
        </p:txBody>
      </p:sp>
      <p:sp>
        <p:nvSpPr>
          <p:cNvPr id="18" name="Text 16"/>
          <p:cNvSpPr/>
          <p:nvPr/>
        </p:nvSpPr>
        <p:spPr>
          <a:xfrm>
            <a:off x="4800600" y="205740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Webhook alıcı (KDS inteqrasiyası)</a:t>
            </a:r>
            <a:endParaRPr lang="en-US" sz="1200" dirty="0"/>
          </a:p>
        </p:txBody>
      </p:sp>
      <p:sp>
        <p:nvSpPr>
          <p:cNvPr id="19" name="Text 17"/>
          <p:cNvSpPr/>
          <p:nvPr/>
        </p:nvSpPr>
        <p:spPr>
          <a:xfrm>
            <a:off x="4800600" y="233172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İki Mərhələli Ödəniş axışı</a:t>
            </a:r>
            <a:endParaRPr lang="en-US" sz="1200" dirty="0"/>
          </a:p>
        </p:txBody>
      </p:sp>
      <p:sp>
        <p:nvSpPr>
          <p:cNvPr id="20" name="Text 18"/>
          <p:cNvSpPr/>
          <p:nvPr/>
        </p:nvSpPr>
        <p:spPr>
          <a:xfrm>
            <a:off x="4800600" y="260604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Background hava API köçürücüsü (15 dəq.)</a:t>
            </a:r>
            <a:endParaRPr lang="en-US" sz="1200" dirty="0"/>
          </a:p>
        </p:txBody>
      </p:sp>
      <p:sp>
        <p:nvSpPr>
          <p:cNvPr id="21" name="Shape 19"/>
          <p:cNvSpPr/>
          <p:nvPr/>
        </p:nvSpPr>
        <p:spPr>
          <a:xfrm>
            <a:off x="182880" y="2971800"/>
            <a:ext cx="4251960" cy="1920240"/>
          </a:xfrm>
          <a:prstGeom prst="rect">
            <a:avLst/>
          </a:prstGeom>
          <a:solidFill>
            <a:srgbClr val="FFFFFF"/>
          </a:solidFill>
          <a:ln w="12700">
            <a:solidFill>
              <a:srgbClr val="0369A1"/>
            </a:solidFill>
            <a:prstDash val="solid"/>
          </a:ln>
          <a:effectLst>
            <a:outerShdw blurRad="101600" dist="38100" dir="8100000" algn="bl" rotWithShape="0">
              <a:srgbClr val="000000">
                <a:alpha val="10000"/>
              </a:srgbClr>
            </a:outerShdw>
          </a:effectLst>
        </p:spPr>
      </p:sp>
      <p:sp>
        <p:nvSpPr>
          <p:cNvPr id="22" name="Shape 20"/>
          <p:cNvSpPr/>
          <p:nvPr/>
        </p:nvSpPr>
        <p:spPr>
          <a:xfrm>
            <a:off x="182880" y="2971800"/>
            <a:ext cx="4251960" cy="73152"/>
          </a:xfrm>
          <a:prstGeom prst="rect">
            <a:avLst/>
          </a:prstGeom>
          <a:solidFill>
            <a:srgbClr val="0369A1"/>
          </a:solidFill>
          <a:ln w="12700">
            <a:solidFill>
              <a:srgbClr val="0369A1"/>
            </a:solidFill>
            <a:prstDash val="solid"/>
          </a:ln>
        </p:spPr>
      </p:sp>
      <p:sp>
        <p:nvSpPr>
          <p:cNvPr id="23" name="Text 21"/>
          <p:cNvSpPr/>
          <p:nvPr/>
        </p:nvSpPr>
        <p:spPr>
          <a:xfrm>
            <a:off x="320040" y="3081528"/>
            <a:ext cx="3977640" cy="365760"/>
          </a:xfrm>
          <a:prstGeom prst="rect">
            <a:avLst/>
          </a:prstGeom>
          <a:noFill/>
          <a:ln/>
        </p:spPr>
        <p:txBody>
          <a:bodyPr wrap="square" rtlCol="0" anchor="ctr"/>
          <a:lstStyle/>
          <a:p>
            <a:pPr marL="0" indent="0">
              <a:buNone/>
            </a:pPr>
            <a:r>
              <a:rPr lang="en-US" sz="1400" b="1" dirty="0">
                <a:solidFill>
                  <a:srgbClr val="0369A1"/>
                </a:solidFill>
                <a:latin typeface="Calibri" pitchFamily="34" charset="0"/>
                <a:ea typeface="Calibri" pitchFamily="34" charset="-122"/>
                <a:cs typeface="Calibri" pitchFamily="34" charset="-120"/>
              </a:rPr>
              <a:t>🗄️  Verilənlər Bazası</a:t>
            </a:r>
            <a:endParaRPr lang="en-US" sz="1400" dirty="0"/>
          </a:p>
        </p:txBody>
      </p:sp>
      <p:sp>
        <p:nvSpPr>
          <p:cNvPr id="24" name="Text 22"/>
          <p:cNvSpPr/>
          <p:nvPr/>
        </p:nvSpPr>
        <p:spPr>
          <a:xfrm>
            <a:off x="320040" y="352044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PostgreSQL (əsas) — istifadəçi, sifariş, restoran</a:t>
            </a:r>
            <a:endParaRPr lang="en-US" sz="1200" dirty="0"/>
          </a:p>
        </p:txBody>
      </p:sp>
      <p:sp>
        <p:nvSpPr>
          <p:cNvPr id="25" name="Text 23"/>
          <p:cNvSpPr/>
          <p:nvPr/>
        </p:nvSpPr>
        <p:spPr>
          <a:xfrm>
            <a:off x="320040" y="379476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Redis (keş) — sessiya, tövsiyə nəticəsi</a:t>
            </a:r>
            <a:endParaRPr lang="en-US" sz="1200" dirty="0"/>
          </a:p>
        </p:txBody>
      </p:sp>
      <p:sp>
        <p:nvSpPr>
          <p:cNvPr id="26" name="Text 24"/>
          <p:cNvSpPr/>
          <p:nvPr/>
        </p:nvSpPr>
        <p:spPr>
          <a:xfrm>
            <a:off x="320040" y="406908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Pessimistik kilid mexanizmi</a:t>
            </a:r>
            <a:endParaRPr lang="en-US" sz="1200" dirty="0"/>
          </a:p>
        </p:txBody>
      </p:sp>
      <p:sp>
        <p:nvSpPr>
          <p:cNvPr id="27" name="Text 25"/>
          <p:cNvSpPr/>
          <p:nvPr/>
        </p:nvSpPr>
        <p:spPr>
          <a:xfrm>
            <a:off x="320040" y="434340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AES-256 şifrəli PII saxlama</a:t>
            </a:r>
            <a:endParaRPr lang="en-US" sz="1200" dirty="0"/>
          </a:p>
        </p:txBody>
      </p:sp>
      <p:sp>
        <p:nvSpPr>
          <p:cNvPr id="28" name="Shape 26"/>
          <p:cNvSpPr/>
          <p:nvPr/>
        </p:nvSpPr>
        <p:spPr>
          <a:xfrm>
            <a:off x="4663440" y="2971800"/>
            <a:ext cx="4251960" cy="1920240"/>
          </a:xfrm>
          <a:prstGeom prst="rect">
            <a:avLst/>
          </a:prstGeom>
          <a:solidFill>
            <a:srgbClr val="FFFFFF"/>
          </a:solidFill>
          <a:ln w="12700">
            <a:solidFill>
              <a:srgbClr val="10B981"/>
            </a:solidFill>
            <a:prstDash val="solid"/>
          </a:ln>
          <a:effectLst>
            <a:outerShdw blurRad="101600" dist="38100" dir="8100000" algn="bl" rotWithShape="0">
              <a:srgbClr val="000000">
                <a:alpha val="10000"/>
              </a:srgbClr>
            </a:outerShdw>
          </a:effectLst>
        </p:spPr>
      </p:sp>
      <p:sp>
        <p:nvSpPr>
          <p:cNvPr id="29" name="Shape 27"/>
          <p:cNvSpPr/>
          <p:nvPr/>
        </p:nvSpPr>
        <p:spPr>
          <a:xfrm>
            <a:off x="4663440" y="2971800"/>
            <a:ext cx="4251960" cy="73152"/>
          </a:xfrm>
          <a:prstGeom prst="rect">
            <a:avLst/>
          </a:prstGeom>
          <a:solidFill>
            <a:srgbClr val="10B981"/>
          </a:solidFill>
          <a:ln w="12700">
            <a:solidFill>
              <a:srgbClr val="10B981"/>
            </a:solidFill>
            <a:prstDash val="solid"/>
          </a:ln>
        </p:spPr>
      </p:sp>
      <p:sp>
        <p:nvSpPr>
          <p:cNvPr id="30" name="Text 28"/>
          <p:cNvSpPr/>
          <p:nvPr/>
        </p:nvSpPr>
        <p:spPr>
          <a:xfrm>
            <a:off x="4800600" y="3081528"/>
            <a:ext cx="3977640" cy="365760"/>
          </a:xfrm>
          <a:prstGeom prst="rect">
            <a:avLst/>
          </a:prstGeom>
          <a:noFill/>
          <a:ln/>
        </p:spPr>
        <p:txBody>
          <a:bodyPr wrap="square" rtlCol="0" anchor="ctr"/>
          <a:lstStyle/>
          <a:p>
            <a:pPr marL="0" indent="0">
              <a:buNone/>
            </a:pPr>
            <a:r>
              <a:rPr lang="en-US" sz="1400" b="1" dirty="0">
                <a:solidFill>
                  <a:srgbClr val="10B981"/>
                </a:solidFill>
                <a:latin typeface="Calibri" pitchFamily="34" charset="0"/>
                <a:ea typeface="Calibri" pitchFamily="34" charset="-122"/>
                <a:cs typeface="Calibri" pitchFamily="34" charset="-120"/>
              </a:rPr>
              <a:t>🌐  Xarici Inteqrasiyalar</a:t>
            </a:r>
            <a:endParaRPr lang="en-US" sz="1400" dirty="0"/>
          </a:p>
        </p:txBody>
      </p:sp>
      <p:sp>
        <p:nvSpPr>
          <p:cNvPr id="31" name="Text 29"/>
          <p:cNvSpPr/>
          <p:nvPr/>
        </p:nvSpPr>
        <p:spPr>
          <a:xfrm>
            <a:off x="4800600" y="352044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OpenWeatherMap API — real vaxt hava</a:t>
            </a:r>
            <a:endParaRPr lang="en-US" sz="1200" dirty="0"/>
          </a:p>
        </p:txBody>
      </p:sp>
      <p:sp>
        <p:nvSpPr>
          <p:cNvPr id="32" name="Text 30"/>
          <p:cNvSpPr/>
          <p:nvPr/>
        </p:nvSpPr>
        <p:spPr>
          <a:xfrm>
            <a:off x="4800600" y="379476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Google OAuth — giriş</a:t>
            </a:r>
            <a:endParaRPr lang="en-US" sz="1200" dirty="0"/>
          </a:p>
        </p:txBody>
      </p:sp>
      <p:sp>
        <p:nvSpPr>
          <p:cNvPr id="33" name="Text 31"/>
          <p:cNvSpPr/>
          <p:nvPr/>
        </p:nvSpPr>
        <p:spPr>
          <a:xfrm>
            <a:off x="4800600" y="406908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SMS Gateway — OTP göndərmə</a:t>
            </a:r>
            <a:endParaRPr lang="en-US" sz="1200" dirty="0"/>
          </a:p>
        </p:txBody>
      </p:sp>
      <p:sp>
        <p:nvSpPr>
          <p:cNvPr id="34" name="Text 32"/>
          <p:cNvSpPr/>
          <p:nvPr/>
        </p:nvSpPr>
        <p:spPr>
          <a:xfrm>
            <a:off x="4800600" y="434340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PCI-DSS ödəniş şlüzü</a:t>
            </a:r>
            <a:endParaRPr lang="en-US" sz="1200" dirty="0"/>
          </a:p>
        </p:txBody>
      </p:sp>
      <p:sp>
        <p:nvSpPr>
          <p:cNvPr id="35" name="Text 33"/>
          <p:cNvSpPr/>
          <p:nvPr/>
        </p:nvSpPr>
        <p:spPr>
          <a:xfrm>
            <a:off x="4800600" y="4617720"/>
            <a:ext cx="3977640" cy="256032"/>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Firebase Push Notification</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w="12700">
            <a:solidFill>
              <a:srgbClr val="0F172A"/>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İSTİFADƏÇİ YOLU (USER JOURNEY)</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0D9488"/>
                </a:solidFill>
                <a:latin typeface="Calibri" pitchFamily="34" charset="0"/>
                <a:ea typeface="Calibri" pitchFamily="34" charset="-122"/>
                <a:cs typeface="Calibri" pitchFamily="34" charset="-120"/>
              </a:rPr>
              <a:t>Yeni bir müştərinin FoodSense-də tipik səyahəti — ilk toxunuşdan mükafata qədər</a:t>
            </a:r>
            <a:endParaRPr lang="en-US" sz="1200" dirty="0"/>
          </a:p>
        </p:txBody>
      </p:sp>
      <p:sp>
        <p:nvSpPr>
          <p:cNvPr id="5" name="Shape 3"/>
          <p:cNvSpPr/>
          <p:nvPr/>
        </p:nvSpPr>
        <p:spPr>
          <a:xfrm>
            <a:off x="182880" y="100584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6" name="Shape 4"/>
          <p:cNvSpPr/>
          <p:nvPr/>
        </p:nvSpPr>
        <p:spPr>
          <a:xfrm>
            <a:off x="182880" y="1005840"/>
            <a:ext cx="2057400" cy="73152"/>
          </a:xfrm>
          <a:prstGeom prst="rect">
            <a:avLst/>
          </a:prstGeom>
          <a:solidFill>
            <a:srgbClr val="0D9488"/>
          </a:solidFill>
          <a:ln w="12700">
            <a:solidFill>
              <a:srgbClr val="0D9488"/>
            </a:solidFill>
            <a:prstDash val="solid"/>
          </a:ln>
        </p:spPr>
      </p:sp>
      <p:sp>
        <p:nvSpPr>
          <p:cNvPr id="7" name="Shape 5"/>
          <p:cNvSpPr/>
          <p:nvPr/>
        </p:nvSpPr>
        <p:spPr>
          <a:xfrm>
            <a:off x="256032" y="1115568"/>
            <a:ext cx="365760" cy="365760"/>
          </a:xfrm>
          <a:prstGeom prst="ellipse">
            <a:avLst/>
          </a:prstGeom>
          <a:solidFill>
            <a:srgbClr val="0D9488"/>
          </a:solidFill>
          <a:ln w="12700">
            <a:solidFill>
              <a:srgbClr val="0D9488"/>
            </a:solidFill>
            <a:prstDash val="solid"/>
          </a:ln>
        </p:spPr>
      </p:sp>
      <p:sp>
        <p:nvSpPr>
          <p:cNvPr id="8" name="Text 6"/>
          <p:cNvSpPr/>
          <p:nvPr/>
        </p:nvSpPr>
        <p:spPr>
          <a:xfrm>
            <a:off x="256032" y="11155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685800" y="109728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0" name="Text 8"/>
          <p:cNvSpPr/>
          <p:nvPr/>
        </p:nvSpPr>
        <p:spPr>
          <a:xfrm>
            <a:off x="274320" y="155448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Tətbiqi Aç</a:t>
            </a:r>
            <a:endParaRPr lang="en-US" sz="1200" dirty="0"/>
          </a:p>
        </p:txBody>
      </p:sp>
      <p:sp>
        <p:nvSpPr>
          <p:cNvPr id="11" name="Text 9"/>
          <p:cNvSpPr/>
          <p:nvPr/>
        </p:nvSpPr>
        <p:spPr>
          <a:xfrm>
            <a:off x="274320" y="187452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0 san.</a:t>
            </a:r>
            <a:endParaRPr lang="en-US" sz="1100" dirty="0"/>
          </a:p>
        </p:txBody>
      </p:sp>
      <p:sp>
        <p:nvSpPr>
          <p:cNvPr id="12" name="Text 10"/>
          <p:cNvSpPr/>
          <p:nvPr/>
        </p:nvSpPr>
        <p:spPr>
          <a:xfrm>
            <a:off x="274320" y="213055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Müştəri FoodSense-i açır. Giriş ekranı görünür.</a:t>
            </a:r>
            <a:endParaRPr lang="en-US" sz="1100" dirty="0"/>
          </a:p>
        </p:txBody>
      </p:sp>
      <p:sp>
        <p:nvSpPr>
          <p:cNvPr id="13" name="Shape 11"/>
          <p:cNvSpPr/>
          <p:nvPr/>
        </p:nvSpPr>
        <p:spPr>
          <a:xfrm>
            <a:off x="2377440" y="100584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14" name="Shape 12"/>
          <p:cNvSpPr/>
          <p:nvPr/>
        </p:nvSpPr>
        <p:spPr>
          <a:xfrm>
            <a:off x="2377440" y="1005840"/>
            <a:ext cx="2057400" cy="73152"/>
          </a:xfrm>
          <a:prstGeom prst="rect">
            <a:avLst/>
          </a:prstGeom>
          <a:solidFill>
            <a:srgbClr val="0D9488"/>
          </a:solidFill>
          <a:ln w="12700">
            <a:solidFill>
              <a:srgbClr val="0D9488"/>
            </a:solidFill>
            <a:prstDash val="solid"/>
          </a:ln>
        </p:spPr>
      </p:sp>
      <p:sp>
        <p:nvSpPr>
          <p:cNvPr id="15" name="Shape 13"/>
          <p:cNvSpPr/>
          <p:nvPr/>
        </p:nvSpPr>
        <p:spPr>
          <a:xfrm>
            <a:off x="2450592" y="1115568"/>
            <a:ext cx="365760" cy="365760"/>
          </a:xfrm>
          <a:prstGeom prst="ellipse">
            <a:avLst/>
          </a:prstGeom>
          <a:solidFill>
            <a:srgbClr val="0D9488"/>
          </a:solidFill>
          <a:ln w="12700">
            <a:solidFill>
              <a:srgbClr val="0D9488"/>
            </a:solidFill>
            <a:prstDash val="solid"/>
          </a:ln>
        </p:spPr>
      </p:sp>
      <p:sp>
        <p:nvSpPr>
          <p:cNvPr id="16" name="Text 14"/>
          <p:cNvSpPr/>
          <p:nvPr/>
        </p:nvSpPr>
        <p:spPr>
          <a:xfrm>
            <a:off x="2450592" y="11155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7" name="Text 15"/>
          <p:cNvSpPr/>
          <p:nvPr/>
        </p:nvSpPr>
        <p:spPr>
          <a:xfrm>
            <a:off x="2880360" y="109728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18" name="Text 16"/>
          <p:cNvSpPr/>
          <p:nvPr/>
        </p:nvSpPr>
        <p:spPr>
          <a:xfrm>
            <a:off x="2468880" y="155448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Giriş Et</a:t>
            </a:r>
            <a:endParaRPr lang="en-US" sz="1200" dirty="0"/>
          </a:p>
        </p:txBody>
      </p:sp>
      <p:sp>
        <p:nvSpPr>
          <p:cNvPr id="19" name="Text 17"/>
          <p:cNvSpPr/>
          <p:nvPr/>
        </p:nvSpPr>
        <p:spPr>
          <a:xfrm>
            <a:off x="2468880" y="187452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~30 san.</a:t>
            </a:r>
            <a:endParaRPr lang="en-US" sz="1100" dirty="0"/>
          </a:p>
        </p:txBody>
      </p:sp>
      <p:sp>
        <p:nvSpPr>
          <p:cNvPr id="20" name="Text 18"/>
          <p:cNvSpPr/>
          <p:nvPr/>
        </p:nvSpPr>
        <p:spPr>
          <a:xfrm>
            <a:off x="2468880" y="213055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Google ilə giriş edir. Onboarding başlayır.</a:t>
            </a:r>
            <a:endParaRPr lang="en-US" sz="1100" dirty="0"/>
          </a:p>
        </p:txBody>
      </p:sp>
      <p:sp>
        <p:nvSpPr>
          <p:cNvPr id="21" name="Shape 19"/>
          <p:cNvSpPr/>
          <p:nvPr/>
        </p:nvSpPr>
        <p:spPr>
          <a:xfrm>
            <a:off x="4572000" y="100584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22" name="Shape 20"/>
          <p:cNvSpPr/>
          <p:nvPr/>
        </p:nvSpPr>
        <p:spPr>
          <a:xfrm>
            <a:off x="4572000" y="1005840"/>
            <a:ext cx="2057400" cy="73152"/>
          </a:xfrm>
          <a:prstGeom prst="rect">
            <a:avLst/>
          </a:prstGeom>
          <a:solidFill>
            <a:srgbClr val="0D9488"/>
          </a:solidFill>
          <a:ln w="12700">
            <a:solidFill>
              <a:srgbClr val="0D9488"/>
            </a:solidFill>
            <a:prstDash val="solid"/>
          </a:ln>
        </p:spPr>
      </p:sp>
      <p:sp>
        <p:nvSpPr>
          <p:cNvPr id="23" name="Shape 21"/>
          <p:cNvSpPr/>
          <p:nvPr/>
        </p:nvSpPr>
        <p:spPr>
          <a:xfrm>
            <a:off x="4645152" y="1115568"/>
            <a:ext cx="365760" cy="365760"/>
          </a:xfrm>
          <a:prstGeom prst="ellipse">
            <a:avLst/>
          </a:prstGeom>
          <a:solidFill>
            <a:srgbClr val="0D9488"/>
          </a:solidFill>
          <a:ln w="12700">
            <a:solidFill>
              <a:srgbClr val="0D9488"/>
            </a:solidFill>
            <a:prstDash val="solid"/>
          </a:ln>
        </p:spPr>
      </p:sp>
      <p:sp>
        <p:nvSpPr>
          <p:cNvPr id="24" name="Text 22"/>
          <p:cNvSpPr/>
          <p:nvPr/>
        </p:nvSpPr>
        <p:spPr>
          <a:xfrm>
            <a:off x="4645152" y="11155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5" name="Text 23"/>
          <p:cNvSpPr/>
          <p:nvPr/>
        </p:nvSpPr>
        <p:spPr>
          <a:xfrm>
            <a:off x="5074920" y="109728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26" name="Text 24"/>
          <p:cNvSpPr/>
          <p:nvPr/>
        </p:nvSpPr>
        <p:spPr>
          <a:xfrm>
            <a:off x="4663440" y="155448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Sorğunu Tamamla</a:t>
            </a:r>
            <a:endParaRPr lang="en-US" sz="1200" dirty="0"/>
          </a:p>
        </p:txBody>
      </p:sp>
      <p:sp>
        <p:nvSpPr>
          <p:cNvPr id="27" name="Text 25"/>
          <p:cNvSpPr/>
          <p:nvPr/>
        </p:nvSpPr>
        <p:spPr>
          <a:xfrm>
            <a:off x="4663440" y="187452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~90 san.</a:t>
            </a:r>
            <a:endParaRPr lang="en-US" sz="1100" dirty="0"/>
          </a:p>
        </p:txBody>
      </p:sp>
      <p:sp>
        <p:nvSpPr>
          <p:cNvPr id="28" name="Text 26"/>
          <p:cNvSpPr/>
          <p:nvPr/>
        </p:nvSpPr>
        <p:spPr>
          <a:xfrm>
            <a:off x="4663440" y="213055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Allergiyasını və diet üstünlüyünü seçir.</a:t>
            </a:r>
            <a:endParaRPr lang="en-US" sz="1100" dirty="0"/>
          </a:p>
        </p:txBody>
      </p:sp>
      <p:sp>
        <p:nvSpPr>
          <p:cNvPr id="29" name="Shape 27"/>
          <p:cNvSpPr/>
          <p:nvPr/>
        </p:nvSpPr>
        <p:spPr>
          <a:xfrm>
            <a:off x="6766560" y="100584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30" name="Shape 28"/>
          <p:cNvSpPr/>
          <p:nvPr/>
        </p:nvSpPr>
        <p:spPr>
          <a:xfrm>
            <a:off x="6766560" y="1005840"/>
            <a:ext cx="2057400" cy="73152"/>
          </a:xfrm>
          <a:prstGeom prst="rect">
            <a:avLst/>
          </a:prstGeom>
          <a:solidFill>
            <a:srgbClr val="0D9488"/>
          </a:solidFill>
          <a:ln w="12700">
            <a:solidFill>
              <a:srgbClr val="0D9488"/>
            </a:solidFill>
            <a:prstDash val="solid"/>
          </a:ln>
        </p:spPr>
      </p:sp>
      <p:sp>
        <p:nvSpPr>
          <p:cNvPr id="31" name="Shape 29"/>
          <p:cNvSpPr/>
          <p:nvPr/>
        </p:nvSpPr>
        <p:spPr>
          <a:xfrm>
            <a:off x="6839712" y="1115568"/>
            <a:ext cx="365760" cy="365760"/>
          </a:xfrm>
          <a:prstGeom prst="ellipse">
            <a:avLst/>
          </a:prstGeom>
          <a:solidFill>
            <a:srgbClr val="0D9488"/>
          </a:solidFill>
          <a:ln w="12700">
            <a:solidFill>
              <a:srgbClr val="0D9488"/>
            </a:solidFill>
            <a:prstDash val="solid"/>
          </a:ln>
        </p:spPr>
      </p:sp>
      <p:sp>
        <p:nvSpPr>
          <p:cNvPr id="32" name="Text 30"/>
          <p:cNvSpPr/>
          <p:nvPr/>
        </p:nvSpPr>
        <p:spPr>
          <a:xfrm>
            <a:off x="6839712" y="111556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33" name="Text 31"/>
          <p:cNvSpPr/>
          <p:nvPr/>
        </p:nvSpPr>
        <p:spPr>
          <a:xfrm>
            <a:off x="7269480" y="109728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34" name="Text 32"/>
          <p:cNvSpPr/>
          <p:nvPr/>
        </p:nvSpPr>
        <p:spPr>
          <a:xfrm>
            <a:off x="6858000" y="155448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GPS İcazəsi Ver</a:t>
            </a:r>
            <a:endParaRPr lang="en-US" sz="1200" dirty="0"/>
          </a:p>
        </p:txBody>
      </p:sp>
      <p:sp>
        <p:nvSpPr>
          <p:cNvPr id="35" name="Text 33"/>
          <p:cNvSpPr/>
          <p:nvPr/>
        </p:nvSpPr>
        <p:spPr>
          <a:xfrm>
            <a:off x="6858000" y="187452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~10 san.</a:t>
            </a:r>
            <a:endParaRPr lang="en-US" sz="1100" dirty="0"/>
          </a:p>
        </p:txBody>
      </p:sp>
      <p:sp>
        <p:nvSpPr>
          <p:cNvPr id="36" name="Text 34"/>
          <p:cNvSpPr/>
          <p:nvPr/>
        </p:nvSpPr>
        <p:spPr>
          <a:xfrm>
            <a:off x="6858000" y="213055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Məkan icazəsi verir. AI dərhal işə düşür.</a:t>
            </a:r>
            <a:endParaRPr lang="en-US" sz="1100" dirty="0"/>
          </a:p>
        </p:txBody>
      </p:sp>
      <p:sp>
        <p:nvSpPr>
          <p:cNvPr id="37" name="Shape 35"/>
          <p:cNvSpPr/>
          <p:nvPr/>
        </p:nvSpPr>
        <p:spPr>
          <a:xfrm>
            <a:off x="182880" y="301752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38" name="Shape 36"/>
          <p:cNvSpPr/>
          <p:nvPr/>
        </p:nvSpPr>
        <p:spPr>
          <a:xfrm>
            <a:off x="182880" y="3017520"/>
            <a:ext cx="2057400" cy="73152"/>
          </a:xfrm>
          <a:prstGeom prst="rect">
            <a:avLst/>
          </a:prstGeom>
          <a:solidFill>
            <a:srgbClr val="0D9488"/>
          </a:solidFill>
          <a:ln w="12700">
            <a:solidFill>
              <a:srgbClr val="0D9488"/>
            </a:solidFill>
            <a:prstDash val="solid"/>
          </a:ln>
        </p:spPr>
      </p:sp>
      <p:sp>
        <p:nvSpPr>
          <p:cNvPr id="39" name="Shape 37"/>
          <p:cNvSpPr/>
          <p:nvPr/>
        </p:nvSpPr>
        <p:spPr>
          <a:xfrm>
            <a:off x="256032" y="3127248"/>
            <a:ext cx="365760" cy="365760"/>
          </a:xfrm>
          <a:prstGeom prst="ellipse">
            <a:avLst/>
          </a:prstGeom>
          <a:solidFill>
            <a:srgbClr val="0D9488"/>
          </a:solidFill>
          <a:ln w="12700">
            <a:solidFill>
              <a:srgbClr val="0D9488"/>
            </a:solidFill>
            <a:prstDash val="solid"/>
          </a:ln>
        </p:spPr>
      </p:sp>
      <p:sp>
        <p:nvSpPr>
          <p:cNvPr id="40" name="Text 38"/>
          <p:cNvSpPr/>
          <p:nvPr/>
        </p:nvSpPr>
        <p:spPr>
          <a:xfrm>
            <a:off x="256032" y="31272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41" name="Text 39"/>
          <p:cNvSpPr/>
          <p:nvPr/>
        </p:nvSpPr>
        <p:spPr>
          <a:xfrm>
            <a:off x="685800" y="310896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42" name="Text 40"/>
          <p:cNvSpPr/>
          <p:nvPr/>
        </p:nvSpPr>
        <p:spPr>
          <a:xfrm>
            <a:off x="274320" y="356616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Ana Ekranı Kəşf Et</a:t>
            </a:r>
            <a:endParaRPr lang="en-US" sz="1200" dirty="0"/>
          </a:p>
        </p:txBody>
      </p:sp>
      <p:sp>
        <p:nvSpPr>
          <p:cNvPr id="43" name="Text 41"/>
          <p:cNvSpPr/>
          <p:nvPr/>
        </p:nvSpPr>
        <p:spPr>
          <a:xfrm>
            <a:off x="274320" y="388620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~2 dəq.</a:t>
            </a:r>
            <a:endParaRPr lang="en-US" sz="1100" dirty="0"/>
          </a:p>
        </p:txBody>
      </p:sp>
      <p:sp>
        <p:nvSpPr>
          <p:cNvPr id="44" name="Text 42"/>
          <p:cNvSpPr/>
          <p:nvPr/>
        </p:nvSpPr>
        <p:spPr>
          <a:xfrm>
            <a:off x="274320" y="414223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Fərdiləşdirilmiş tövsiyələri görür, restoran seçir.</a:t>
            </a:r>
            <a:endParaRPr lang="en-US" sz="1100" dirty="0"/>
          </a:p>
        </p:txBody>
      </p:sp>
      <p:sp>
        <p:nvSpPr>
          <p:cNvPr id="45" name="Shape 43"/>
          <p:cNvSpPr/>
          <p:nvPr/>
        </p:nvSpPr>
        <p:spPr>
          <a:xfrm>
            <a:off x="2377440" y="301752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46" name="Shape 44"/>
          <p:cNvSpPr/>
          <p:nvPr/>
        </p:nvSpPr>
        <p:spPr>
          <a:xfrm>
            <a:off x="2377440" y="3017520"/>
            <a:ext cx="2057400" cy="73152"/>
          </a:xfrm>
          <a:prstGeom prst="rect">
            <a:avLst/>
          </a:prstGeom>
          <a:solidFill>
            <a:srgbClr val="0D9488"/>
          </a:solidFill>
          <a:ln w="12700">
            <a:solidFill>
              <a:srgbClr val="0D9488"/>
            </a:solidFill>
            <a:prstDash val="solid"/>
          </a:ln>
        </p:spPr>
      </p:sp>
      <p:sp>
        <p:nvSpPr>
          <p:cNvPr id="47" name="Shape 45"/>
          <p:cNvSpPr/>
          <p:nvPr/>
        </p:nvSpPr>
        <p:spPr>
          <a:xfrm>
            <a:off x="2450592" y="3127248"/>
            <a:ext cx="365760" cy="365760"/>
          </a:xfrm>
          <a:prstGeom prst="ellipse">
            <a:avLst/>
          </a:prstGeom>
          <a:solidFill>
            <a:srgbClr val="0D9488"/>
          </a:solidFill>
          <a:ln w="12700">
            <a:solidFill>
              <a:srgbClr val="0D9488"/>
            </a:solidFill>
            <a:prstDash val="solid"/>
          </a:ln>
        </p:spPr>
      </p:sp>
      <p:sp>
        <p:nvSpPr>
          <p:cNvPr id="48" name="Text 46"/>
          <p:cNvSpPr/>
          <p:nvPr/>
        </p:nvSpPr>
        <p:spPr>
          <a:xfrm>
            <a:off x="2450592" y="31272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49" name="Text 47"/>
          <p:cNvSpPr/>
          <p:nvPr/>
        </p:nvSpPr>
        <p:spPr>
          <a:xfrm>
            <a:off x="2880360" y="310896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50" name="Text 48"/>
          <p:cNvSpPr/>
          <p:nvPr/>
        </p:nvSpPr>
        <p:spPr>
          <a:xfrm>
            <a:off x="2468880" y="356616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Sifariş Ver</a:t>
            </a:r>
            <a:endParaRPr lang="en-US" sz="1200" dirty="0"/>
          </a:p>
        </p:txBody>
      </p:sp>
      <p:sp>
        <p:nvSpPr>
          <p:cNvPr id="51" name="Text 49"/>
          <p:cNvSpPr/>
          <p:nvPr/>
        </p:nvSpPr>
        <p:spPr>
          <a:xfrm>
            <a:off x="2468880" y="388620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~5 dəq.</a:t>
            </a:r>
            <a:endParaRPr lang="en-US" sz="1100" dirty="0"/>
          </a:p>
        </p:txBody>
      </p:sp>
      <p:sp>
        <p:nvSpPr>
          <p:cNvPr id="52" name="Text 50"/>
          <p:cNvSpPr/>
          <p:nvPr/>
        </p:nvSpPr>
        <p:spPr>
          <a:xfrm>
            <a:off x="2468880" y="414223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Filtrələnmiş menyudan seçir, QR-ı skan edir, sifariş edir.</a:t>
            </a:r>
            <a:endParaRPr lang="en-US" sz="1100" dirty="0"/>
          </a:p>
        </p:txBody>
      </p:sp>
      <p:sp>
        <p:nvSpPr>
          <p:cNvPr id="53" name="Shape 51"/>
          <p:cNvSpPr/>
          <p:nvPr/>
        </p:nvSpPr>
        <p:spPr>
          <a:xfrm>
            <a:off x="4572000" y="301752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54" name="Shape 52"/>
          <p:cNvSpPr/>
          <p:nvPr/>
        </p:nvSpPr>
        <p:spPr>
          <a:xfrm>
            <a:off x="4572000" y="3017520"/>
            <a:ext cx="2057400" cy="73152"/>
          </a:xfrm>
          <a:prstGeom prst="rect">
            <a:avLst/>
          </a:prstGeom>
          <a:solidFill>
            <a:srgbClr val="0D9488"/>
          </a:solidFill>
          <a:ln w="12700">
            <a:solidFill>
              <a:srgbClr val="0D9488"/>
            </a:solidFill>
            <a:prstDash val="solid"/>
          </a:ln>
        </p:spPr>
      </p:sp>
      <p:sp>
        <p:nvSpPr>
          <p:cNvPr id="55" name="Shape 53"/>
          <p:cNvSpPr/>
          <p:nvPr/>
        </p:nvSpPr>
        <p:spPr>
          <a:xfrm>
            <a:off x="4645152" y="3127248"/>
            <a:ext cx="365760" cy="365760"/>
          </a:xfrm>
          <a:prstGeom prst="ellipse">
            <a:avLst/>
          </a:prstGeom>
          <a:solidFill>
            <a:srgbClr val="0D9488"/>
          </a:solidFill>
          <a:ln w="12700">
            <a:solidFill>
              <a:srgbClr val="0D9488"/>
            </a:solidFill>
            <a:prstDash val="solid"/>
          </a:ln>
        </p:spPr>
      </p:sp>
      <p:sp>
        <p:nvSpPr>
          <p:cNvPr id="56" name="Text 54"/>
          <p:cNvSpPr/>
          <p:nvPr/>
        </p:nvSpPr>
        <p:spPr>
          <a:xfrm>
            <a:off x="4645152" y="31272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57" name="Text 55"/>
          <p:cNvSpPr/>
          <p:nvPr/>
        </p:nvSpPr>
        <p:spPr>
          <a:xfrm>
            <a:off x="5074920" y="310896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58" name="Text 56"/>
          <p:cNvSpPr/>
          <p:nvPr/>
        </p:nvSpPr>
        <p:spPr>
          <a:xfrm>
            <a:off x="4663440" y="356616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Tətbiqdə Ödə</a:t>
            </a:r>
            <a:endParaRPr lang="en-US" sz="1200" dirty="0"/>
          </a:p>
        </p:txBody>
      </p:sp>
      <p:sp>
        <p:nvSpPr>
          <p:cNvPr id="59" name="Text 57"/>
          <p:cNvSpPr/>
          <p:nvPr/>
        </p:nvSpPr>
        <p:spPr>
          <a:xfrm>
            <a:off x="4663440" y="388620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~1 dəq.</a:t>
            </a:r>
            <a:endParaRPr lang="en-US" sz="1100" dirty="0"/>
          </a:p>
        </p:txBody>
      </p:sp>
      <p:sp>
        <p:nvSpPr>
          <p:cNvPr id="60" name="Text 58"/>
          <p:cNvSpPr/>
          <p:nvPr/>
        </p:nvSpPr>
        <p:spPr>
          <a:xfrm>
            <a:off x="4663440" y="414223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Bir toxunuşla ödəyir. Qəbz dərhal gəlir.</a:t>
            </a:r>
            <a:endParaRPr lang="en-US" sz="1100" dirty="0"/>
          </a:p>
        </p:txBody>
      </p:sp>
      <p:sp>
        <p:nvSpPr>
          <p:cNvPr id="61" name="Shape 59"/>
          <p:cNvSpPr/>
          <p:nvPr/>
        </p:nvSpPr>
        <p:spPr>
          <a:xfrm>
            <a:off x="6766560" y="3017520"/>
            <a:ext cx="2057400" cy="1828800"/>
          </a:xfrm>
          <a:prstGeom prst="rect">
            <a:avLst/>
          </a:prstGeom>
          <a:solidFill>
            <a:srgbClr val="F8FAFC"/>
          </a:solidFill>
          <a:ln w="12700">
            <a:solidFill>
              <a:srgbClr val="0D9488"/>
            </a:solidFill>
            <a:prstDash val="solid"/>
          </a:ln>
          <a:effectLst>
            <a:outerShdw blurRad="101600" dist="38100" dir="8100000" algn="bl" rotWithShape="0">
              <a:srgbClr val="000000">
                <a:alpha val="10000"/>
              </a:srgbClr>
            </a:outerShdw>
          </a:effectLst>
        </p:spPr>
      </p:sp>
      <p:sp>
        <p:nvSpPr>
          <p:cNvPr id="62" name="Shape 60"/>
          <p:cNvSpPr/>
          <p:nvPr/>
        </p:nvSpPr>
        <p:spPr>
          <a:xfrm>
            <a:off x="6766560" y="3017520"/>
            <a:ext cx="2057400" cy="73152"/>
          </a:xfrm>
          <a:prstGeom prst="rect">
            <a:avLst/>
          </a:prstGeom>
          <a:solidFill>
            <a:srgbClr val="0D9488"/>
          </a:solidFill>
          <a:ln w="12700">
            <a:solidFill>
              <a:srgbClr val="0D9488"/>
            </a:solidFill>
            <a:prstDash val="solid"/>
          </a:ln>
        </p:spPr>
      </p:sp>
      <p:sp>
        <p:nvSpPr>
          <p:cNvPr id="63" name="Shape 61"/>
          <p:cNvSpPr/>
          <p:nvPr/>
        </p:nvSpPr>
        <p:spPr>
          <a:xfrm>
            <a:off x="6839712" y="3127248"/>
            <a:ext cx="365760" cy="365760"/>
          </a:xfrm>
          <a:prstGeom prst="ellipse">
            <a:avLst/>
          </a:prstGeom>
          <a:solidFill>
            <a:srgbClr val="0D9488"/>
          </a:solidFill>
          <a:ln w="12700">
            <a:solidFill>
              <a:srgbClr val="0D9488"/>
            </a:solidFill>
            <a:prstDash val="solid"/>
          </a:ln>
        </p:spPr>
      </p:sp>
      <p:sp>
        <p:nvSpPr>
          <p:cNvPr id="64" name="Text 62"/>
          <p:cNvSpPr/>
          <p:nvPr/>
        </p:nvSpPr>
        <p:spPr>
          <a:xfrm>
            <a:off x="6839712" y="3127248"/>
            <a:ext cx="365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a:t>
            </a:r>
            <a:endParaRPr lang="en-US" sz="1200" dirty="0"/>
          </a:p>
        </p:txBody>
      </p:sp>
      <p:sp>
        <p:nvSpPr>
          <p:cNvPr id="65" name="Text 63"/>
          <p:cNvSpPr/>
          <p:nvPr/>
        </p:nvSpPr>
        <p:spPr>
          <a:xfrm>
            <a:off x="7269480" y="3108960"/>
            <a:ext cx="502920" cy="402336"/>
          </a:xfrm>
          <a:prstGeom prst="rect">
            <a:avLst/>
          </a:prstGeom>
          <a:noFill/>
          <a:ln/>
        </p:spPr>
        <p:txBody>
          <a:bodyPr wrap="square" rtlCol="0" anchor="ctr"/>
          <a:lstStyle/>
          <a:p>
            <a:pPr marL="0" indent="0">
              <a:buNone/>
            </a:pPr>
            <a:r>
              <a:rPr lang="en-US" sz="2200" dirty="0">
                <a:solidFill>
                  <a:srgbClr val="000000"/>
                </a:solidFill>
              </a:rPr>
              <a:t>⭐</a:t>
            </a:r>
            <a:endParaRPr lang="en-US" sz="2200" dirty="0"/>
          </a:p>
        </p:txBody>
      </p:sp>
      <p:sp>
        <p:nvSpPr>
          <p:cNvPr id="66" name="Text 64"/>
          <p:cNvSpPr/>
          <p:nvPr/>
        </p:nvSpPr>
        <p:spPr>
          <a:xfrm>
            <a:off x="6858000" y="3566160"/>
            <a:ext cx="1874520" cy="320040"/>
          </a:xfrm>
          <a:prstGeom prst="rect">
            <a:avLst/>
          </a:prstGeom>
          <a:noFill/>
          <a:ln/>
        </p:spPr>
        <p:txBody>
          <a:bodyPr wrap="square" rtlCol="0" anchor="ctr"/>
          <a:lstStyle/>
          <a:p>
            <a:pPr marL="0" indent="0">
              <a:buNone/>
            </a:pPr>
            <a:r>
              <a:rPr lang="en-US" sz="1200" b="1" dirty="0">
                <a:solidFill>
                  <a:srgbClr val="0F172A"/>
                </a:solidFill>
                <a:latin typeface="Calibri" pitchFamily="34" charset="0"/>
                <a:ea typeface="Calibri" pitchFamily="34" charset="-122"/>
                <a:cs typeface="Calibri" pitchFamily="34" charset="-120"/>
              </a:rPr>
              <a:t>Qiymətləndir &amp; Qazan</a:t>
            </a:r>
            <a:endParaRPr lang="en-US" sz="1200" dirty="0"/>
          </a:p>
        </p:txBody>
      </p:sp>
      <p:sp>
        <p:nvSpPr>
          <p:cNvPr id="67" name="Text 65"/>
          <p:cNvSpPr/>
          <p:nvPr/>
        </p:nvSpPr>
        <p:spPr>
          <a:xfrm>
            <a:off x="6858000" y="3886200"/>
            <a:ext cx="1874520" cy="256032"/>
          </a:xfrm>
          <a:prstGeom prst="rect">
            <a:avLst/>
          </a:prstGeom>
          <a:noFill/>
          <a:ln/>
        </p:spPr>
        <p:txBody>
          <a:bodyPr wrap="square" rtlCol="0" anchor="ctr"/>
          <a:lstStyle/>
          <a:p>
            <a:pPr marL="0" indent="0">
              <a:buNone/>
            </a:pPr>
            <a:r>
              <a:rPr lang="en-US" sz="1100" b="1" i="1" dirty="0">
                <a:solidFill>
                  <a:srgbClr val="F59E0B"/>
                </a:solidFill>
                <a:latin typeface="Calibri" pitchFamily="34" charset="0"/>
                <a:ea typeface="Calibri" pitchFamily="34" charset="-122"/>
                <a:cs typeface="Calibri" pitchFamily="34" charset="-120"/>
              </a:rPr>
              <a:t>~30 san.</a:t>
            </a:r>
            <a:endParaRPr lang="en-US" sz="1100" dirty="0"/>
          </a:p>
        </p:txBody>
      </p:sp>
      <p:sp>
        <p:nvSpPr>
          <p:cNvPr id="68" name="Text 66"/>
          <p:cNvSpPr/>
          <p:nvPr/>
        </p:nvSpPr>
        <p:spPr>
          <a:xfrm>
            <a:off x="6858000" y="4142232"/>
            <a:ext cx="1874520" cy="594360"/>
          </a:xfrm>
          <a:prstGeom prst="rect">
            <a:avLst/>
          </a:prstGeom>
          <a:noFill/>
          <a:ln/>
        </p:spPr>
        <p:txBody>
          <a:bodyPr wrap="square" rtlCol="0" anchor="t"/>
          <a:lstStyle/>
          <a:p>
            <a:pPr marL="0" indent="0">
              <a:buNone/>
            </a:pPr>
            <a:r>
              <a:rPr lang="en-US" sz="1100" dirty="0">
                <a:solidFill>
                  <a:srgbClr val="64748B"/>
                </a:solidFill>
                <a:latin typeface="Calibri" pitchFamily="34" charset="0"/>
                <a:ea typeface="Calibri" pitchFamily="34" charset="-122"/>
                <a:cs typeface="Calibri" pitchFamily="34" charset="-120"/>
              </a:rPr>
              <a:t>Ulduz verir. Loyallıq kartı bir dairə doldurulur.</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0FDF4"/>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10B981"/>
          </a:solidFill>
          <a:ln w="12700">
            <a:solidFill>
              <a:srgbClr val="10B981"/>
            </a:solidFill>
            <a:prstDash val="solid"/>
          </a:ln>
        </p:spPr>
      </p:sp>
      <p:sp>
        <p:nvSpPr>
          <p:cNvPr id="3" name="Text 1"/>
          <p:cNvSpPr/>
          <p:nvPr/>
        </p:nvSpPr>
        <p:spPr>
          <a:xfrm>
            <a:off x="365760" y="45720"/>
            <a:ext cx="8229600" cy="73152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GƏLƏCƏKDƏKİ YOL XƏRİTƏSİ</a:t>
            </a:r>
            <a:endParaRPr lang="en-US" sz="2600" dirty="0"/>
          </a:p>
        </p:txBody>
      </p:sp>
      <p:sp>
        <p:nvSpPr>
          <p:cNvPr id="4" name="Text 2"/>
          <p:cNvSpPr/>
          <p:nvPr/>
        </p:nvSpPr>
        <p:spPr>
          <a:xfrm>
            <a:off x="365760" y="566928"/>
            <a:ext cx="8229600" cy="292608"/>
          </a:xfrm>
          <a:prstGeom prst="rect">
            <a:avLst/>
          </a:prstGeom>
          <a:noFill/>
          <a:ln/>
        </p:spPr>
        <p:txBody>
          <a:bodyPr wrap="square" lIns="0" tIns="0" rIns="0" bIns="0" rtlCol="0" anchor="ctr"/>
          <a:lstStyle/>
          <a:p>
            <a:pPr marL="0" indent="0">
              <a:buNone/>
            </a:pPr>
            <a:r>
              <a:rPr lang="en-US" sz="1200" i="1" dirty="0">
                <a:solidFill>
                  <a:srgbClr val="BBF7D0"/>
                </a:solidFill>
                <a:latin typeface="Calibri" pitchFamily="34" charset="0"/>
                <a:ea typeface="Calibri" pitchFamily="34" charset="-122"/>
                <a:cs typeface="Calibri" pitchFamily="34" charset="-120"/>
              </a:rPr>
              <a:t>FoodSense v2.0, v3.0 və uzunmüddətli perspektivlər</a:t>
            </a:r>
            <a:endParaRPr lang="en-US" sz="1200" dirty="0"/>
          </a:p>
        </p:txBody>
      </p:sp>
      <p:sp>
        <p:nvSpPr>
          <p:cNvPr id="5" name="Shape 3"/>
          <p:cNvSpPr/>
          <p:nvPr/>
        </p:nvSpPr>
        <p:spPr>
          <a:xfrm>
            <a:off x="182880" y="960120"/>
            <a:ext cx="2834640" cy="3977640"/>
          </a:xfrm>
          <a:prstGeom prst="rect">
            <a:avLst/>
          </a:prstGeom>
          <a:solidFill>
            <a:srgbClr val="FFFFFF"/>
          </a:solidFill>
          <a:ln w="12700">
            <a:solidFill>
              <a:srgbClr val="0D9488"/>
            </a:solidFill>
            <a:prstDash val="solid"/>
          </a:ln>
          <a:effectLst>
            <a:outerShdw blurRad="101600" dist="38100" dir="8100000" algn="bl" rotWithShape="0">
              <a:srgbClr val="000000">
                <a:alpha val="10000"/>
              </a:srgbClr>
            </a:outerShdw>
          </a:effectLst>
        </p:spPr>
      </p:sp>
      <p:sp>
        <p:nvSpPr>
          <p:cNvPr id="6" name="Shape 4"/>
          <p:cNvSpPr/>
          <p:nvPr/>
        </p:nvSpPr>
        <p:spPr>
          <a:xfrm>
            <a:off x="182880" y="960120"/>
            <a:ext cx="2834640" cy="640080"/>
          </a:xfrm>
          <a:prstGeom prst="rect">
            <a:avLst/>
          </a:prstGeom>
          <a:solidFill>
            <a:srgbClr val="0D9488"/>
          </a:solidFill>
          <a:ln w="12700">
            <a:solidFill>
              <a:srgbClr val="0D9488"/>
            </a:solidFill>
            <a:prstDash val="solid"/>
          </a:ln>
        </p:spPr>
      </p:sp>
      <p:sp>
        <p:nvSpPr>
          <p:cNvPr id="7" name="Text 5"/>
          <p:cNvSpPr/>
          <p:nvPr/>
        </p:nvSpPr>
        <p:spPr>
          <a:xfrm>
            <a:off x="274320" y="987552"/>
            <a:ext cx="265176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v1.0</a:t>
            </a:r>
            <a:endParaRPr lang="en-US" sz="1600" dirty="0"/>
          </a:p>
        </p:txBody>
      </p:sp>
      <p:sp>
        <p:nvSpPr>
          <p:cNvPr id="8" name="Text 6"/>
          <p:cNvSpPr/>
          <p:nvPr/>
        </p:nvSpPr>
        <p:spPr>
          <a:xfrm>
            <a:off x="274320" y="1307592"/>
            <a:ext cx="2651760" cy="256032"/>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Hazırki Mərhələ</a:t>
            </a:r>
            <a:endParaRPr lang="en-US" sz="1200" dirty="0"/>
          </a:p>
        </p:txBody>
      </p:sp>
      <p:sp>
        <p:nvSpPr>
          <p:cNvPr id="9" name="Text 7"/>
          <p:cNvSpPr/>
          <p:nvPr/>
        </p:nvSpPr>
        <p:spPr>
          <a:xfrm>
            <a:off x="320040" y="169164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AI menyu tövsiyə sistemi</a:t>
            </a:r>
            <a:endParaRPr lang="en-US" sz="1200" dirty="0"/>
          </a:p>
        </p:txBody>
      </p:sp>
      <p:sp>
        <p:nvSpPr>
          <p:cNvPr id="10" name="Text 8"/>
          <p:cNvSpPr/>
          <p:nvPr/>
        </p:nvSpPr>
        <p:spPr>
          <a:xfrm>
            <a:off x="320040" y="2221992"/>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Hava əsaslı filtrasiya</a:t>
            </a:r>
            <a:endParaRPr lang="en-US" sz="1200" dirty="0"/>
          </a:p>
        </p:txBody>
      </p:sp>
      <p:sp>
        <p:nvSpPr>
          <p:cNvPr id="11" name="Text 9"/>
          <p:cNvSpPr/>
          <p:nvPr/>
        </p:nvSpPr>
        <p:spPr>
          <a:xfrm>
            <a:off x="320040" y="2752344"/>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Allergiya &amp; diet filtri</a:t>
            </a:r>
            <a:endParaRPr lang="en-US" sz="1200" dirty="0"/>
          </a:p>
        </p:txBody>
      </p:sp>
      <p:sp>
        <p:nvSpPr>
          <p:cNvPr id="12" name="Text 10"/>
          <p:cNvSpPr/>
          <p:nvPr/>
        </p:nvSpPr>
        <p:spPr>
          <a:xfrm>
            <a:off x="320040" y="3282696"/>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Rəqəmsal loyallıq kartı</a:t>
            </a:r>
            <a:endParaRPr lang="en-US" sz="1200" dirty="0"/>
          </a:p>
        </p:txBody>
      </p:sp>
      <p:sp>
        <p:nvSpPr>
          <p:cNvPr id="13" name="Text 11"/>
          <p:cNvSpPr/>
          <p:nvPr/>
        </p:nvSpPr>
        <p:spPr>
          <a:xfrm>
            <a:off x="320040" y="3813048"/>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QR sifariş &amp; ödəniş</a:t>
            </a:r>
            <a:endParaRPr lang="en-US" sz="1200" dirty="0"/>
          </a:p>
        </p:txBody>
      </p:sp>
      <p:sp>
        <p:nvSpPr>
          <p:cNvPr id="14" name="Text 12"/>
          <p:cNvSpPr/>
          <p:nvPr/>
        </p:nvSpPr>
        <p:spPr>
          <a:xfrm>
            <a:off x="320040" y="434340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Ulduz reytinq sistemi</a:t>
            </a:r>
            <a:endParaRPr lang="en-US" sz="1200" dirty="0"/>
          </a:p>
        </p:txBody>
      </p:sp>
      <p:sp>
        <p:nvSpPr>
          <p:cNvPr id="15" name="Shape 13"/>
          <p:cNvSpPr/>
          <p:nvPr/>
        </p:nvSpPr>
        <p:spPr>
          <a:xfrm>
            <a:off x="3154680" y="960120"/>
            <a:ext cx="2834640" cy="3977640"/>
          </a:xfrm>
          <a:prstGeom prst="rect">
            <a:avLst/>
          </a:prstGeom>
          <a:solidFill>
            <a:srgbClr val="FFFFFF"/>
          </a:solidFill>
          <a:ln w="12700">
            <a:solidFill>
              <a:srgbClr val="F59E0B"/>
            </a:solidFill>
            <a:prstDash val="solid"/>
          </a:ln>
          <a:effectLst>
            <a:outerShdw blurRad="101600" dist="38100" dir="8100000" algn="bl" rotWithShape="0">
              <a:srgbClr val="000000">
                <a:alpha val="10000"/>
              </a:srgbClr>
            </a:outerShdw>
          </a:effectLst>
        </p:spPr>
      </p:sp>
      <p:sp>
        <p:nvSpPr>
          <p:cNvPr id="16" name="Shape 14"/>
          <p:cNvSpPr/>
          <p:nvPr/>
        </p:nvSpPr>
        <p:spPr>
          <a:xfrm>
            <a:off x="3154680" y="960120"/>
            <a:ext cx="2834640" cy="640080"/>
          </a:xfrm>
          <a:prstGeom prst="rect">
            <a:avLst/>
          </a:prstGeom>
          <a:solidFill>
            <a:srgbClr val="F59E0B"/>
          </a:solidFill>
          <a:ln w="12700">
            <a:solidFill>
              <a:srgbClr val="F59E0B"/>
            </a:solidFill>
            <a:prstDash val="solid"/>
          </a:ln>
        </p:spPr>
      </p:sp>
      <p:sp>
        <p:nvSpPr>
          <p:cNvPr id="17" name="Text 15"/>
          <p:cNvSpPr/>
          <p:nvPr/>
        </p:nvSpPr>
        <p:spPr>
          <a:xfrm>
            <a:off x="3246120" y="987552"/>
            <a:ext cx="265176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v2.0</a:t>
            </a:r>
            <a:endParaRPr lang="en-US" sz="1600" dirty="0"/>
          </a:p>
        </p:txBody>
      </p:sp>
      <p:sp>
        <p:nvSpPr>
          <p:cNvPr id="18" name="Text 16"/>
          <p:cNvSpPr/>
          <p:nvPr/>
        </p:nvSpPr>
        <p:spPr>
          <a:xfrm>
            <a:off x="3246120" y="1307592"/>
            <a:ext cx="2651760" cy="256032"/>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6-12 Ay</a:t>
            </a:r>
            <a:endParaRPr lang="en-US" sz="1200" dirty="0"/>
          </a:p>
        </p:txBody>
      </p:sp>
      <p:sp>
        <p:nvSpPr>
          <p:cNvPr id="19" name="Text 17"/>
          <p:cNvSpPr/>
          <p:nvPr/>
        </p:nvSpPr>
        <p:spPr>
          <a:xfrm>
            <a:off x="3291840" y="169164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AR menyu baxışı (kameradan yemək görsəl)</a:t>
            </a:r>
            <a:endParaRPr lang="en-US" sz="1200" dirty="0"/>
          </a:p>
        </p:txBody>
      </p:sp>
      <p:sp>
        <p:nvSpPr>
          <p:cNvPr id="20" name="Text 18"/>
          <p:cNvSpPr/>
          <p:nvPr/>
        </p:nvSpPr>
        <p:spPr>
          <a:xfrm>
            <a:off x="3291840" y="2221992"/>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Chatbot-la sifariş köməkçisi</a:t>
            </a:r>
            <a:endParaRPr lang="en-US" sz="1200" dirty="0"/>
          </a:p>
        </p:txBody>
      </p:sp>
      <p:sp>
        <p:nvSpPr>
          <p:cNvPr id="21" name="Text 19"/>
          <p:cNvSpPr/>
          <p:nvPr/>
        </p:nvSpPr>
        <p:spPr>
          <a:xfrm>
            <a:off x="3291840" y="2752344"/>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Çoxdilli interfeys (AZ, RU, EN)</a:t>
            </a:r>
            <a:endParaRPr lang="en-US" sz="1200" dirty="0"/>
          </a:p>
        </p:txBody>
      </p:sp>
      <p:sp>
        <p:nvSpPr>
          <p:cNvPr id="22" name="Text 20"/>
          <p:cNvSpPr/>
          <p:nvPr/>
        </p:nvSpPr>
        <p:spPr>
          <a:xfrm>
            <a:off x="3291840" y="3282696"/>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Süni intellekt ilə dinamik qiymətləndirmə</a:t>
            </a:r>
            <a:endParaRPr lang="en-US" sz="1200" dirty="0"/>
          </a:p>
        </p:txBody>
      </p:sp>
      <p:sp>
        <p:nvSpPr>
          <p:cNvPr id="23" name="Text 21"/>
          <p:cNvSpPr/>
          <p:nvPr/>
        </p:nvSpPr>
        <p:spPr>
          <a:xfrm>
            <a:off x="3291840" y="3813048"/>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Restoran meneceri mobil tətbiqi</a:t>
            </a:r>
            <a:endParaRPr lang="en-US" sz="1200" dirty="0"/>
          </a:p>
        </p:txBody>
      </p:sp>
      <p:sp>
        <p:nvSpPr>
          <p:cNvPr id="24" name="Text 22"/>
          <p:cNvSpPr/>
          <p:nvPr/>
        </p:nvSpPr>
        <p:spPr>
          <a:xfrm>
            <a:off x="3291840" y="434340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İki restoran müqayisə funksiyası</a:t>
            </a:r>
            <a:endParaRPr lang="en-US" sz="1200" dirty="0"/>
          </a:p>
        </p:txBody>
      </p:sp>
      <p:sp>
        <p:nvSpPr>
          <p:cNvPr id="25" name="Shape 23"/>
          <p:cNvSpPr/>
          <p:nvPr/>
        </p:nvSpPr>
        <p:spPr>
          <a:xfrm>
            <a:off x="6126480" y="960120"/>
            <a:ext cx="2834640" cy="3977640"/>
          </a:xfrm>
          <a:prstGeom prst="rect">
            <a:avLst/>
          </a:prstGeom>
          <a:solidFill>
            <a:srgbClr val="FFFFFF"/>
          </a:solidFill>
          <a:ln w="12700">
            <a:solidFill>
              <a:srgbClr val="8B5CF6"/>
            </a:solidFill>
            <a:prstDash val="solid"/>
          </a:ln>
          <a:effectLst>
            <a:outerShdw blurRad="101600" dist="38100" dir="8100000" algn="bl" rotWithShape="0">
              <a:srgbClr val="000000">
                <a:alpha val="10000"/>
              </a:srgbClr>
            </a:outerShdw>
          </a:effectLst>
        </p:spPr>
      </p:sp>
      <p:sp>
        <p:nvSpPr>
          <p:cNvPr id="26" name="Shape 24"/>
          <p:cNvSpPr/>
          <p:nvPr/>
        </p:nvSpPr>
        <p:spPr>
          <a:xfrm>
            <a:off x="6126480" y="960120"/>
            <a:ext cx="2834640" cy="640080"/>
          </a:xfrm>
          <a:prstGeom prst="rect">
            <a:avLst/>
          </a:prstGeom>
          <a:solidFill>
            <a:srgbClr val="8B5CF6"/>
          </a:solidFill>
          <a:ln w="12700">
            <a:solidFill>
              <a:srgbClr val="8B5CF6"/>
            </a:solidFill>
            <a:prstDash val="solid"/>
          </a:ln>
        </p:spPr>
      </p:sp>
      <p:sp>
        <p:nvSpPr>
          <p:cNvPr id="27" name="Text 25"/>
          <p:cNvSpPr/>
          <p:nvPr/>
        </p:nvSpPr>
        <p:spPr>
          <a:xfrm>
            <a:off x="6217920" y="987552"/>
            <a:ext cx="2651760" cy="320040"/>
          </a:xfrm>
          <a:prstGeom prst="rect">
            <a:avLst/>
          </a:prstGeom>
          <a:noFill/>
          <a:ln/>
        </p:spPr>
        <p:txBody>
          <a:bodyPr wrap="square"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  v3.0</a:t>
            </a:r>
            <a:endParaRPr lang="en-US" sz="1600" dirty="0"/>
          </a:p>
        </p:txBody>
      </p:sp>
      <p:sp>
        <p:nvSpPr>
          <p:cNvPr id="28" name="Text 26"/>
          <p:cNvSpPr/>
          <p:nvPr/>
        </p:nvSpPr>
        <p:spPr>
          <a:xfrm>
            <a:off x="6217920" y="1307592"/>
            <a:ext cx="2651760" cy="256032"/>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1-2 İl</a:t>
            </a:r>
            <a:endParaRPr lang="en-US" sz="1200" dirty="0"/>
          </a:p>
        </p:txBody>
      </p:sp>
      <p:sp>
        <p:nvSpPr>
          <p:cNvPr id="29" name="Text 27"/>
          <p:cNvSpPr/>
          <p:nvPr/>
        </p:nvSpPr>
        <p:spPr>
          <a:xfrm>
            <a:off x="6263640" y="169164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Azərbaycan ərzaq çatdırılması inteqrasiyası</a:t>
            </a:r>
            <a:endParaRPr lang="en-US" sz="1200" dirty="0"/>
          </a:p>
        </p:txBody>
      </p:sp>
      <p:sp>
        <p:nvSpPr>
          <p:cNvPr id="30" name="Text 28"/>
          <p:cNvSpPr/>
          <p:nvPr/>
        </p:nvSpPr>
        <p:spPr>
          <a:xfrm>
            <a:off x="6263640" y="2221992"/>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Maşın öyrənməsi ilə menyu optimallaşdırması</a:t>
            </a:r>
            <a:endParaRPr lang="en-US" sz="1200" dirty="0"/>
          </a:p>
        </p:txBody>
      </p:sp>
      <p:sp>
        <p:nvSpPr>
          <p:cNvPr id="31" name="Text 29"/>
          <p:cNvSpPr/>
          <p:nvPr/>
        </p:nvSpPr>
        <p:spPr>
          <a:xfrm>
            <a:off x="6263640" y="2752344"/>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B2B SaaS modeli (restoran lisenziyası)</a:t>
            </a:r>
            <a:endParaRPr lang="en-US" sz="1200" dirty="0"/>
          </a:p>
        </p:txBody>
      </p:sp>
      <p:sp>
        <p:nvSpPr>
          <p:cNvPr id="32" name="Text 30"/>
          <p:cNvSpPr/>
          <p:nvPr/>
        </p:nvSpPr>
        <p:spPr>
          <a:xfrm>
            <a:off x="6263640" y="3282696"/>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Regional genişlənmə — Gürcüstan, Türkiyə</a:t>
            </a:r>
            <a:endParaRPr lang="en-US" sz="1200" dirty="0"/>
          </a:p>
        </p:txBody>
      </p:sp>
      <p:sp>
        <p:nvSpPr>
          <p:cNvPr id="33" name="Text 31"/>
          <p:cNvSpPr/>
          <p:nvPr/>
        </p:nvSpPr>
        <p:spPr>
          <a:xfrm>
            <a:off x="6263640" y="3813048"/>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Səs-əsaslı sifariş (Siri / Google Assistant)</a:t>
            </a:r>
            <a:endParaRPr lang="en-US" sz="1200" dirty="0"/>
          </a:p>
        </p:txBody>
      </p:sp>
      <p:sp>
        <p:nvSpPr>
          <p:cNvPr id="34" name="Text 32"/>
          <p:cNvSpPr/>
          <p:nvPr/>
        </p:nvSpPr>
        <p:spPr>
          <a:xfrm>
            <a:off x="6263640" y="4343400"/>
            <a:ext cx="2560320" cy="475488"/>
          </a:xfrm>
          <a:prstGeom prst="rect">
            <a:avLst/>
          </a:prstGeom>
          <a:noFill/>
          <a:ln/>
        </p:spPr>
        <p:txBody>
          <a:bodyPr wrap="square" rtlCol="0" anchor="ctr"/>
          <a:lstStyle/>
          <a:p>
            <a:pPr marL="342900" indent="-342900">
              <a:buSzPct val="100000"/>
              <a:buChar char="•"/>
            </a:pPr>
            <a:r>
              <a:rPr lang="en-US" sz="1200" dirty="0">
                <a:solidFill>
                  <a:srgbClr val="64748B"/>
                </a:solidFill>
                <a:latin typeface="Calibri" pitchFamily="34" charset="0"/>
                <a:ea typeface="Calibri" pitchFamily="34" charset="-122"/>
                <a:cs typeface="Calibri" pitchFamily="34" charset="-120"/>
              </a:rPr>
              <a:t>Karbon izi hesablama (ekoloji menyu tövsiyəsi)</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3803</Words>
  <Application>Microsoft Office PowerPoint</Application>
  <PresentationFormat>On-screen Show (16:9)</PresentationFormat>
  <Paragraphs>476</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FoodSense - Ağıllı Menyu Tövsiyə Sistemi</dc:title>
  <dc:subject>PptxGenJS Presentation</dc:subject>
  <dc:creator>PptxGenJS</dc:creator>
  <cp:lastModifiedBy>Saraxatun Hacizade</cp:lastModifiedBy>
  <cp:revision>2</cp:revision>
  <dcterms:created xsi:type="dcterms:W3CDTF">2026-05-16T22:19:26Z</dcterms:created>
  <dcterms:modified xsi:type="dcterms:W3CDTF">2026-07-29T21:40:52Z</dcterms:modified>
</cp:coreProperties>
</file>